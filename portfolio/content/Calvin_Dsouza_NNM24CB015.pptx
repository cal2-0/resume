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  <p:sldMasterId id="2147483708" r:id="rId2"/>
  </p:sldMasterIdLst>
  <p:notesMasterIdLst>
    <p:notesMasterId r:id="rId8"/>
  </p:notesMasterIdLst>
  <p:sldIdLst>
    <p:sldId id="256" r:id="rId3"/>
    <p:sldId id="257" r:id="rId4"/>
    <p:sldId id="258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38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654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BFE22A-87A1-49BC-A264-20505EAA4FAC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D0C16C-F819-4383-B99F-7B3CD61B6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042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DBF67-7B41-4428-A0CF-E97E331C53BA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81D07-8EA6-4162-980E-CCB506A4D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951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0AF7A-F35C-45AB-B435-A98F85DFA6EE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81D07-8EA6-4162-980E-CCB506A4D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640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27357-6951-4186-A237-5D1594B5E8DA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81D07-8EA6-4162-980E-CCB506A4D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259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22550-166C-4F88-BA0B-16B90F88D44A}" type="datetime1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81D07-8EA6-4162-980E-CCB506A4D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237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39311-C206-444A-9505-15F7ED66F6D5}" type="datetime1">
              <a:rPr lang="en-US" smtClean="0"/>
              <a:t>5/3/2026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81D07-8EA6-4162-980E-CCB506A4D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179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2A132-202C-4853-A903-4A330C85D4C1}" type="datetime1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81D07-8EA6-4162-980E-CCB506A4D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023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47052-67DD-40D9-B5B9-DA89F4A80FB2}" type="datetime1">
              <a:rPr lang="en-US" smtClean="0"/>
              <a:t>5/3/2026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81D07-8EA6-4162-980E-CCB506A4D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485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CDE55-8AC5-4C0A-9573-90C3E250A13D}" type="datetime1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81D07-8EA6-4162-980E-CCB506A4D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126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7FA0D-92B4-46B5-8375-AB834E1AD313}" type="datetime1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81D07-8EA6-4162-980E-CCB506A4D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0924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93389-048E-4B05-9A99-6ED824BA6B5B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81D07-8EA6-4162-980E-CCB506A4D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860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2988D-B3AC-4958-B79E-5B86C1822774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81D07-8EA6-4162-980E-CCB506A4D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559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DBF67-7B41-4428-A0CF-E97E331C53BA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81D07-8EA6-4162-980E-CCB506A4D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2375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0AF7A-F35C-45AB-B435-A98F85DFA6EE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81D07-8EA6-4162-980E-CCB506A4D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8107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27357-6951-4186-A237-5D1594B5E8DA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81D07-8EA6-4162-980E-CCB506A4D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8539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22550-166C-4F88-BA0B-16B90F88D44A}" type="datetime1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81D07-8EA6-4162-980E-CCB506A4D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5530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39311-C206-444A-9505-15F7ED66F6D5}" type="datetime1">
              <a:rPr lang="en-US" smtClean="0"/>
              <a:t>5/3/2026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81D07-8EA6-4162-980E-CCB506A4D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8541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2A132-202C-4853-A903-4A330C85D4C1}" type="datetime1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81D07-8EA6-4162-980E-CCB506A4D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8802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47052-67DD-40D9-B5B9-DA89F4A80FB2}" type="datetime1">
              <a:rPr lang="en-US" smtClean="0"/>
              <a:t>5/3/2026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81D07-8EA6-4162-980E-CCB506A4D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20911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CDE55-8AC5-4C0A-9573-90C3E250A13D}" type="datetime1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81D07-8EA6-4162-980E-CCB506A4D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74352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7FA0D-92B4-46B5-8375-AB834E1AD313}" type="datetime1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81D07-8EA6-4162-980E-CCB506A4D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63675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93389-048E-4B05-9A99-6ED824BA6B5B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81D07-8EA6-4162-980E-CCB506A4D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1560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2988D-B3AC-4958-B79E-5B86C1822774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81D07-8EA6-4162-980E-CCB506A4D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116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3C3D8A05-71D2-4DDC-AF73-786CD00198A2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1D381D07-8EA6-4162-980E-CCB506A4D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82518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3C3D8A05-71D2-4DDC-AF73-786CD00198A2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1D381D07-8EA6-4162-980E-CCB506A4D6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22942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161B98F4-E130-20D4-E4B5-6BA843F64F5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09DD106-0BC0-9EF8-67D2-F723D310AA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744764" y="2597379"/>
            <a:ext cx="14011728" cy="2387600"/>
          </a:xfrm>
        </p:spPr>
        <p:txBody>
          <a:bodyPr>
            <a:noAutofit/>
          </a:bodyPr>
          <a:lstStyle/>
          <a:p>
            <a:r>
              <a:rPr lang="en-US" sz="13800" b="1" dirty="0">
                <a:ln>
                  <a:solidFill>
                    <a:schemeClr val="tx1"/>
                  </a:solidFill>
                </a:ln>
                <a:latin typeface="Bodoni MT" panose="02070603080606020203" pitchFamily="18" charset="0"/>
              </a:rPr>
              <a:t>MARVELS</a:t>
            </a:r>
            <a:r>
              <a:rPr lang="en-US" sz="19900" b="1" dirty="0">
                <a:ln>
                  <a:solidFill>
                    <a:schemeClr val="tx1"/>
                  </a:solidFill>
                </a:ln>
                <a:latin typeface="Bodoni MT" panose="02070603080606020203" pitchFamily="18" charset="0"/>
              </a:rPr>
              <a:t> </a:t>
            </a:r>
            <a:r>
              <a:rPr lang="en-US" sz="13800" b="1" dirty="0">
                <a:ln>
                  <a:solidFill>
                    <a:schemeClr val="tx1"/>
                  </a:solidFill>
                </a:ln>
                <a:latin typeface="Bodoni MT" panose="02070603080606020203" pitchFamily="18" charset="0"/>
              </a:rPr>
              <a:t>OF</a:t>
            </a:r>
            <a:r>
              <a:rPr lang="en-US" sz="19900" b="1" dirty="0">
                <a:ln>
                  <a:solidFill>
                    <a:schemeClr val="tx1"/>
                  </a:solidFill>
                </a:ln>
                <a:latin typeface="Bodoni MT" panose="02070603080606020203" pitchFamily="18" charset="0"/>
              </a:rPr>
              <a:t>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79184A-8C5A-2CB9-A273-5192FAD531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36650"/>
            <a:ext cx="9144000" cy="1655762"/>
          </a:xfrm>
        </p:spPr>
        <p:txBody>
          <a:bodyPr>
            <a:normAutofit/>
          </a:bodyPr>
          <a:lstStyle/>
          <a:p>
            <a:r>
              <a:rPr lang="en-US" sz="5400" b="1" dirty="0">
                <a:ln>
                  <a:solidFill>
                    <a:schemeClr val="tx1"/>
                  </a:solidFill>
                </a:ln>
                <a:latin typeface="Bodoni MT" panose="02070603080606020203" pitchFamily="18" charset="0"/>
              </a:rPr>
              <a:t>ENGINEERING</a:t>
            </a:r>
            <a:r>
              <a:rPr lang="en-US" sz="6000" b="1" dirty="0">
                <a:ln>
                  <a:solidFill>
                    <a:schemeClr val="tx1"/>
                  </a:solidFill>
                </a:ln>
                <a:latin typeface="Bodoni MT" panose="02070603080606020203" pitchFamily="18" charset="0"/>
              </a:rPr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062C93-430D-4AE1-1E90-FEBFE7B38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81D07-8EA6-4162-980E-CCB506A4D6A3}" type="slidenum">
              <a:rPr lang="en-US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1</a:t>
            </a:fld>
            <a:endParaRPr 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E0D9B653-5674-A6E3-DF42-3DE6F26C0B5E}"/>
              </a:ext>
            </a:extLst>
          </p:cNvPr>
          <p:cNvSpPr txBox="1">
            <a:spLocks/>
          </p:cNvSpPr>
          <p:nvPr/>
        </p:nvSpPr>
        <p:spPr>
          <a:xfrm>
            <a:off x="1524000" y="2243338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ln>
                  <a:solidFill>
                    <a:schemeClr val="tx1"/>
                  </a:solidFill>
                </a:ln>
                <a:latin typeface="Bodoni MT" panose="02070603080606020203" pitchFamily="18" charset="0"/>
              </a:rPr>
              <a:t>THE</a:t>
            </a:r>
            <a:endParaRPr lang="en-US" sz="4400" b="1" dirty="0">
              <a:ln>
                <a:solidFill>
                  <a:schemeClr val="tx1"/>
                </a:solidFill>
              </a:ln>
              <a:latin typeface="Bodoni MT" panose="02070603080606020203" pitchFamily="18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EE70B36-1C1E-7648-3574-761C325ADD7A}"/>
              </a:ext>
            </a:extLst>
          </p:cNvPr>
          <p:cNvSpPr txBox="1">
            <a:spLocks/>
          </p:cNvSpPr>
          <p:nvPr/>
        </p:nvSpPr>
        <p:spPr>
          <a:xfrm>
            <a:off x="2478768" y="4908950"/>
            <a:ext cx="5253264" cy="142342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6600" b="1" dirty="0">
              <a:ln>
                <a:solidFill>
                  <a:schemeClr val="tx1"/>
                </a:solidFill>
              </a:ln>
              <a:latin typeface="Bodoni MT" panose="02070603080606020203" pitchFamily="18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6D19D1D8-8057-1625-8A96-20D396316F8C}"/>
              </a:ext>
            </a:extLst>
          </p:cNvPr>
          <p:cNvSpPr txBox="1">
            <a:spLocks/>
          </p:cNvSpPr>
          <p:nvPr/>
        </p:nvSpPr>
        <p:spPr>
          <a:xfrm>
            <a:off x="17784990" y="-778303"/>
            <a:ext cx="5253264" cy="142342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6600" b="1" dirty="0">
              <a:ln>
                <a:solidFill>
                  <a:schemeClr val="tx1"/>
                </a:solidFill>
              </a:ln>
              <a:latin typeface="Bodoni MT" panose="02070603080606020203" pitchFamily="18" charset="0"/>
            </a:endParaRP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F8499937-66DA-F5EC-302E-2ADCC8EFADBA}"/>
              </a:ext>
            </a:extLst>
          </p:cNvPr>
          <p:cNvSpPr txBox="1">
            <a:spLocks/>
          </p:cNvSpPr>
          <p:nvPr/>
        </p:nvSpPr>
        <p:spPr>
          <a:xfrm>
            <a:off x="14011728" y="2164977"/>
            <a:ext cx="11119757" cy="165576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it-IT" sz="6000" b="1" dirty="0">
                <a:ln>
                  <a:solidFill>
                    <a:schemeClr val="tx1"/>
                  </a:solidFill>
                </a:ln>
                <a:latin typeface="Bodoni MT" panose="02070603080606020203" pitchFamily="18" charset="0"/>
              </a:rPr>
              <a:t>Bugatti Chiron Super </a:t>
            </a:r>
          </a:p>
          <a:p>
            <a:pPr algn="l"/>
            <a:r>
              <a:rPr lang="it-IT" sz="6000" b="1" dirty="0">
                <a:ln>
                  <a:solidFill>
                    <a:schemeClr val="tx1"/>
                  </a:solidFill>
                </a:ln>
                <a:latin typeface="Bodoni MT" panose="02070603080606020203" pitchFamily="18" charset="0"/>
              </a:rPr>
              <a:t>Sport 300+</a:t>
            </a:r>
            <a:endParaRPr lang="en-US" sz="6000" b="1" dirty="0">
              <a:ln>
                <a:solidFill>
                  <a:schemeClr val="tx1"/>
                </a:solidFill>
              </a:ln>
              <a:latin typeface="Bodoni MT" panose="02070603080606020203" pitchFamily="18" charset="0"/>
            </a:endParaRP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0BD47E08-B1DC-0570-BCD9-82608A5381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89408" y="3983995"/>
            <a:ext cx="4599721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b="1" dirty="0">
                <a:ln>
                  <a:solidFill>
                    <a:schemeClr val="tx1"/>
                  </a:solidFill>
                </a:ln>
                <a:latin typeface="Bodoni MT" panose="02070603080606020203" pitchFamily="18" charset="0"/>
              </a:rPr>
              <a:t>1</a:t>
            </a:r>
            <a:r>
              <a:rPr kumimoji="0" lang="en-US" altLang="en-US" sz="1800" b="1" i="0" u="none" strike="noStrike" cap="none" normalizeH="0" baseline="0" dirty="0">
                <a:ln>
                  <a:solidFill>
                    <a:schemeClr val="tx1"/>
                  </a:solidFill>
                </a:ln>
                <a:effectLst/>
                <a:latin typeface="Bodoni MT" panose="02070603080606020203" pitchFamily="18" charset="0"/>
              </a:rPr>
              <a:t>600 horsepower (quad-turbo W16)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solidFill>
                    <a:schemeClr val="tx1"/>
                  </a:solidFill>
                </a:ln>
                <a:effectLst/>
                <a:latin typeface="Bodoni MT" panose="02070603080606020203" pitchFamily="18" charset="0"/>
              </a:rPr>
              <a:t>490 km/h recorded run (304.77 mph)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solidFill>
                    <a:schemeClr val="tx1"/>
                  </a:solidFill>
                </a:ln>
                <a:effectLst/>
                <a:latin typeface="Bodoni MT" panose="02070603080606020203" pitchFamily="18" charset="0"/>
              </a:rPr>
              <a:t>0–400 km/h in ~32 seconds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solidFill>
                    <a:schemeClr val="tx1"/>
                  </a:solidFill>
                </a:ln>
                <a:effectLst/>
                <a:latin typeface="Bodoni MT" panose="02070603080606020203" pitchFamily="18" charset="0"/>
              </a:rPr>
              <a:t>440 km/h electronically limited for customers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4AED397-45D2-DA0C-8AD6-C733948D6403}"/>
              </a:ext>
            </a:extLst>
          </p:cNvPr>
          <p:cNvCxnSpPr>
            <a:cxnSpLocks/>
          </p:cNvCxnSpPr>
          <p:nvPr/>
        </p:nvCxnSpPr>
        <p:spPr>
          <a:xfrm>
            <a:off x="25369157" y="3632282"/>
            <a:ext cx="16795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07D6D73-4F74-A612-14FB-200A21E26380}"/>
              </a:ext>
            </a:extLst>
          </p:cNvPr>
          <p:cNvSpPr txBox="1"/>
          <p:nvPr/>
        </p:nvSpPr>
        <p:spPr>
          <a:xfrm>
            <a:off x="-1304219" y="5314619"/>
            <a:ext cx="1281923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3200" b="1" dirty="0">
                <a:ln>
                  <a:solidFill>
                    <a:schemeClr val="tx1"/>
                  </a:solidFill>
                </a:ln>
                <a:latin typeface="Bodoni MT" panose="02070603080606020203" pitchFamily="18" charset="0"/>
              </a:rPr>
              <a:t>CALVIN </a:t>
            </a:r>
            <a:r>
              <a:rPr lang="en-US" sz="2800" b="1" dirty="0">
                <a:ln>
                  <a:solidFill>
                    <a:schemeClr val="tx1"/>
                  </a:solidFill>
                </a:ln>
                <a:latin typeface="Bodoni MT" panose="02070603080606020203" pitchFamily="18" charset="0"/>
              </a:rPr>
              <a:t>DSOUZA</a:t>
            </a:r>
            <a:endParaRPr lang="en-US" sz="3200" b="1" dirty="0">
              <a:ln>
                <a:solidFill>
                  <a:schemeClr val="tx1"/>
                </a:solidFill>
              </a:ln>
              <a:latin typeface="Bodoni MT" panose="02070603080606020203" pitchFamily="18" charset="0"/>
            </a:endParaRPr>
          </a:p>
          <a:p>
            <a:pPr algn="r"/>
            <a:r>
              <a:rPr lang="en-US" sz="3200" b="1" dirty="0">
                <a:ln>
                  <a:solidFill>
                    <a:schemeClr val="tx1"/>
                  </a:solidFill>
                </a:ln>
                <a:latin typeface="Bodoni MT" panose="02070603080606020203" pitchFamily="18" charset="0"/>
              </a:rPr>
              <a:t>NNM24CB015</a:t>
            </a:r>
            <a:endParaRPr lang="en-US" sz="500" b="1" dirty="0">
              <a:ln>
                <a:solidFill>
                  <a:schemeClr val="tx1"/>
                </a:solidFill>
              </a:ln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E183007-0FD1-DDD7-579F-9668873BAE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51385" y="2164977"/>
            <a:ext cx="5275954" cy="2967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14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3576CF-EE4E-541A-D2E0-A5B3E3CEB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0E3A2-C461-9D4E-7323-ACCC527D3B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909864" y="-5989389"/>
            <a:ext cx="14011728" cy="2387600"/>
          </a:xfrm>
        </p:spPr>
        <p:txBody>
          <a:bodyPr>
            <a:noAutofit/>
          </a:bodyPr>
          <a:lstStyle/>
          <a:p>
            <a:r>
              <a:rPr lang="en-US" sz="11500" b="1" dirty="0">
                <a:latin typeface="Bodoni MT" panose="02070603080606020203" pitchFamily="18" charset="0"/>
              </a:rPr>
              <a:t>MARVELS</a:t>
            </a:r>
            <a:r>
              <a:rPr lang="en-US" sz="16600" b="1" dirty="0">
                <a:latin typeface="Bodoni MT" panose="02070603080606020203" pitchFamily="18" charset="0"/>
              </a:rPr>
              <a:t> </a:t>
            </a:r>
            <a:r>
              <a:rPr lang="en-US" sz="13800" b="1" dirty="0">
                <a:latin typeface="Bodoni MT" panose="02070603080606020203" pitchFamily="18" charset="0"/>
              </a:rPr>
              <a:t>OF</a:t>
            </a:r>
            <a:r>
              <a:rPr lang="en-US" sz="16600" b="1" dirty="0">
                <a:latin typeface="Bodoni MT" panose="02070603080606020203" pitchFamily="18" charset="0"/>
              </a:rPr>
              <a:t>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0C766E-9F1A-7E12-0254-43E5B79F4F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-4266414"/>
            <a:ext cx="9144000" cy="1655762"/>
          </a:xfrm>
        </p:spPr>
        <p:txBody>
          <a:bodyPr>
            <a:normAutofit/>
          </a:bodyPr>
          <a:lstStyle/>
          <a:p>
            <a:r>
              <a:rPr lang="en-US" sz="6000" b="1" dirty="0">
                <a:latin typeface="Bodoni MT" panose="02070603080606020203" pitchFamily="18" charset="0"/>
              </a:rPr>
              <a:t>ENGINEERING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F4099A-001A-40E5-B84B-C71887E3C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81D07-8EA6-4162-980E-CCB506A4D6A3}" type="slidenum">
              <a:rPr lang="en-US" smtClean="0"/>
              <a:t>2</a:t>
            </a:fld>
            <a:endParaRPr lang="en-US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5A17B86-64FE-B389-7419-2CC11F8B0C23}"/>
              </a:ext>
            </a:extLst>
          </p:cNvPr>
          <p:cNvSpPr txBox="1">
            <a:spLocks/>
          </p:cNvSpPr>
          <p:nvPr/>
        </p:nvSpPr>
        <p:spPr>
          <a:xfrm>
            <a:off x="1524000" y="-6280613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000" b="1" dirty="0">
                <a:latin typeface="Bodoni MT" panose="02070603080606020203" pitchFamily="18" charset="0"/>
              </a:rPr>
              <a:t>THE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D1B278F-A6E3-F434-9C32-E8F9326BC336}"/>
              </a:ext>
            </a:extLst>
          </p:cNvPr>
          <p:cNvSpPr txBox="1">
            <a:spLocks/>
          </p:cNvSpPr>
          <p:nvPr/>
        </p:nvSpPr>
        <p:spPr>
          <a:xfrm>
            <a:off x="3469368" y="-2136045"/>
            <a:ext cx="5253264" cy="142342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6600" b="1" dirty="0">
              <a:latin typeface="Bodoni MT" panose="02070603080606020203" pitchFamily="18" charset="0"/>
            </a:endParaRP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85A443CD-8DE0-B5DC-FA43-41CE09CAAB40}"/>
              </a:ext>
            </a:extLst>
          </p:cNvPr>
          <p:cNvSpPr txBox="1">
            <a:spLocks/>
          </p:cNvSpPr>
          <p:nvPr/>
        </p:nvSpPr>
        <p:spPr>
          <a:xfrm>
            <a:off x="330200" y="698142"/>
            <a:ext cx="12201358" cy="23875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it-IT" sz="6000" dirty="0">
                <a:latin typeface="Bodoni MT" panose="02070603080606020203" pitchFamily="18" charset="0"/>
              </a:rPr>
              <a:t>Bugatti Chiron Super </a:t>
            </a:r>
          </a:p>
          <a:p>
            <a:pPr algn="l"/>
            <a:r>
              <a:rPr lang="it-IT" sz="6000" dirty="0">
                <a:latin typeface="Bodoni MT" panose="02070603080606020203" pitchFamily="18" charset="0"/>
              </a:rPr>
              <a:t>Sport 300+</a:t>
            </a:r>
            <a:endParaRPr lang="en-US" sz="6000" dirty="0">
              <a:latin typeface="Bodoni MT" panose="02070603080606020203" pitchFamily="18" charset="0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B758BCB3-69F3-F09E-8C3F-7B79643BF3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545" y="3084036"/>
            <a:ext cx="6082754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dirty="0">
                <a:latin typeface="Bodoni MT" panose="02070603080606020203" pitchFamily="18" charset="0"/>
              </a:rPr>
              <a:t>1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</a:rPr>
              <a:t>600 horsepower (quad-turbo W16)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</a:rPr>
              <a:t>490 km/h recorded run (304.77 mph)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</a:rPr>
              <a:t>0–400 km/h in ~32 seconds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</a:rPr>
              <a:t>440 km/h electronically limited for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7EB8A42-4D88-8FBA-2C24-D501CA183EC3}"/>
              </a:ext>
            </a:extLst>
          </p:cNvPr>
          <p:cNvCxnSpPr>
            <a:cxnSpLocks/>
          </p:cNvCxnSpPr>
          <p:nvPr/>
        </p:nvCxnSpPr>
        <p:spPr>
          <a:xfrm>
            <a:off x="11159890" y="5294949"/>
            <a:ext cx="16795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ubtitle 2">
            <a:extLst>
              <a:ext uri="{FF2B5EF4-FFF2-40B4-BE49-F238E27FC236}">
                <a16:creationId xmlns:a16="http://schemas.microsoft.com/office/drawing/2014/main" id="{0FE764F3-7184-3C82-FFD4-138A21C328CF}"/>
              </a:ext>
            </a:extLst>
          </p:cNvPr>
          <p:cNvSpPr txBox="1">
            <a:spLocks/>
          </p:cNvSpPr>
          <p:nvPr/>
        </p:nvSpPr>
        <p:spPr>
          <a:xfrm>
            <a:off x="16475411" y="2077596"/>
            <a:ext cx="7737845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it-IT" sz="6000" dirty="0">
                <a:latin typeface="Bodoni MT" panose="02070603080606020203" pitchFamily="18" charset="0"/>
              </a:rPr>
              <a:t>Antonov An-225</a:t>
            </a:r>
            <a:endParaRPr lang="en-US" sz="6000" dirty="0">
              <a:latin typeface="Bodoni MT" panose="02070603080606020203" pitchFamily="18" charset="0"/>
            </a:endParaRP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F3D13AD9-1186-3FF1-C995-A7C4E49A34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41688" y="3453367"/>
            <a:ext cx="562551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GB" dirty="0">
                <a:latin typeface="Bodoni MT" panose="02070603080606020203" pitchFamily="18" charset="0"/>
              </a:rPr>
              <a:t>6 Turbofan engines producing ~1,370 </a:t>
            </a:r>
            <a:r>
              <a:rPr lang="en-GB" dirty="0" err="1">
                <a:latin typeface="Bodoni MT" panose="02070603080606020203" pitchFamily="18" charset="0"/>
              </a:rPr>
              <a:t>kN</a:t>
            </a:r>
            <a:r>
              <a:rPr lang="en-GB" dirty="0">
                <a:latin typeface="Bodoni MT" panose="02070603080606020203" pitchFamily="18" charset="0"/>
              </a:rPr>
              <a:t> of total thrust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GB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</a:rPr>
              <a:t>Landing gear: 32 wheels.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B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</a:rPr>
              <a:t>Antonov max take-off weight: 640 tons.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B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</a:rPr>
              <a:t>Wingspan: 88 meters — wider than a football field.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3E9D7A-6773-27D2-4D95-0313DCB363BA}"/>
              </a:ext>
            </a:extLst>
          </p:cNvPr>
          <p:cNvSpPr txBox="1"/>
          <p:nvPr/>
        </p:nvSpPr>
        <p:spPr>
          <a:xfrm>
            <a:off x="8898428" y="5760196"/>
            <a:ext cx="1281923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Bodoni MT" panose="02070603080606020203" pitchFamily="18" charset="0"/>
              </a:rPr>
              <a:t>CALVIN DSOUZA</a:t>
            </a:r>
          </a:p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Bodoni MT" panose="02070603080606020203" pitchFamily="18" charset="0"/>
              </a:rPr>
              <a:t>NNM24CB015</a:t>
            </a:r>
            <a:endParaRPr lang="en-US" sz="500" dirty="0">
              <a:ln>
                <a:solidFill>
                  <a:schemeClr val="bg1"/>
                </a:solidFill>
              </a:ln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5F1CA18-D472-EA03-902D-FD4384103B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79533" y="1909762"/>
            <a:ext cx="5400675" cy="303847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BE4786A-E15B-7DAF-AE9F-095F6119F3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1661" y="2124564"/>
            <a:ext cx="6049794" cy="3403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517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573D68-5639-3207-B8E6-134D301EA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6D21BA1-01CA-9F69-ED4F-32579541521E}"/>
              </a:ext>
            </a:extLst>
          </p:cNvPr>
          <p:cNvCxnSpPr>
            <a:cxnSpLocks/>
          </p:cNvCxnSpPr>
          <p:nvPr/>
        </p:nvCxnSpPr>
        <p:spPr>
          <a:xfrm>
            <a:off x="-2725932" y="5472784"/>
            <a:ext cx="1571942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3941DE61-FD9D-8849-0797-893529F2A6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638" y="2395790"/>
            <a:ext cx="5804690" cy="326577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610189F-F5AB-0CA7-A56E-7E47CB1C2D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909864" y="-5989389"/>
            <a:ext cx="14011728" cy="2387600"/>
          </a:xfrm>
        </p:spPr>
        <p:txBody>
          <a:bodyPr>
            <a:noAutofit/>
          </a:bodyPr>
          <a:lstStyle/>
          <a:p>
            <a:r>
              <a:rPr lang="en-US" sz="11500" b="1" dirty="0">
                <a:latin typeface="Bodoni MT" panose="02070603080606020203" pitchFamily="18" charset="0"/>
              </a:rPr>
              <a:t>MARVELS</a:t>
            </a:r>
            <a:r>
              <a:rPr lang="en-US" sz="16600" b="1" dirty="0">
                <a:latin typeface="Bodoni MT" panose="02070603080606020203" pitchFamily="18" charset="0"/>
              </a:rPr>
              <a:t> </a:t>
            </a:r>
            <a:r>
              <a:rPr lang="en-US" sz="13800" b="1" dirty="0">
                <a:latin typeface="Bodoni MT" panose="02070603080606020203" pitchFamily="18" charset="0"/>
              </a:rPr>
              <a:t>OF</a:t>
            </a:r>
            <a:r>
              <a:rPr lang="en-US" sz="16600" b="1" dirty="0">
                <a:latin typeface="Bodoni MT" panose="02070603080606020203" pitchFamily="18" charset="0"/>
              </a:rPr>
              <a:t>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27C911-7104-71E1-DFBD-C12374D927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-4266414"/>
            <a:ext cx="9144000" cy="1655762"/>
          </a:xfrm>
        </p:spPr>
        <p:txBody>
          <a:bodyPr>
            <a:normAutofit/>
          </a:bodyPr>
          <a:lstStyle/>
          <a:p>
            <a:r>
              <a:rPr lang="en-US" sz="6000" b="1" dirty="0">
                <a:latin typeface="Bodoni MT" panose="02070603080606020203" pitchFamily="18" charset="0"/>
              </a:rPr>
              <a:t>ENGINEERING 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1526EB6-5527-24F0-7DB5-3399CFD4F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81D07-8EA6-4162-980E-CCB506A4D6A3}" type="slidenum">
              <a:rPr lang="en-US" smtClean="0"/>
              <a:t>3</a:t>
            </a:fld>
            <a:endParaRPr lang="en-US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CC1227DC-860D-D4D1-02F2-7E87927C7C8B}"/>
              </a:ext>
            </a:extLst>
          </p:cNvPr>
          <p:cNvSpPr txBox="1">
            <a:spLocks/>
          </p:cNvSpPr>
          <p:nvPr/>
        </p:nvSpPr>
        <p:spPr>
          <a:xfrm>
            <a:off x="1524000" y="-6280613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000" b="1" dirty="0">
                <a:latin typeface="Bodoni MT" panose="02070603080606020203" pitchFamily="18" charset="0"/>
              </a:rPr>
              <a:t>THE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7DFE221-EB1C-290F-1DB4-AC9C3DE13F26}"/>
              </a:ext>
            </a:extLst>
          </p:cNvPr>
          <p:cNvSpPr txBox="1">
            <a:spLocks/>
          </p:cNvSpPr>
          <p:nvPr/>
        </p:nvSpPr>
        <p:spPr>
          <a:xfrm>
            <a:off x="3469368" y="-2136045"/>
            <a:ext cx="5253264" cy="142342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6600" b="1" dirty="0">
              <a:latin typeface="Bodoni MT" panose="02070603080606020203" pitchFamily="18" charset="0"/>
            </a:endParaRP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E0296BB8-4F7C-D797-7CCB-CEB2B3F63FEB}"/>
              </a:ext>
            </a:extLst>
          </p:cNvPr>
          <p:cNvSpPr txBox="1">
            <a:spLocks/>
          </p:cNvSpPr>
          <p:nvPr/>
        </p:nvSpPr>
        <p:spPr>
          <a:xfrm>
            <a:off x="-13508337" y="1961695"/>
            <a:ext cx="6960053" cy="165576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it-IT" sz="6000" dirty="0">
                <a:latin typeface="Bodoni MT" panose="02070603080606020203" pitchFamily="18" charset="0"/>
              </a:rPr>
              <a:t>Bugatti Chiron Super </a:t>
            </a:r>
          </a:p>
          <a:p>
            <a:pPr algn="l"/>
            <a:r>
              <a:rPr lang="it-IT" sz="6000" dirty="0">
                <a:latin typeface="Bodoni MT" panose="02070603080606020203" pitchFamily="18" charset="0"/>
              </a:rPr>
              <a:t>Sport 300+</a:t>
            </a:r>
            <a:endParaRPr lang="en-US" sz="6000" dirty="0">
              <a:latin typeface="Bodoni MT" panose="02070603080606020203" pitchFamily="18" charset="0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6FEAE284-32C9-205A-C029-A53F7AE66B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3130657" y="3780713"/>
            <a:ext cx="4599721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latin typeface="Bodoni MT" panose="02070603080606020203" pitchFamily="18" charset="0"/>
              </a:rPr>
              <a:t>1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</a:rPr>
              <a:t>600 horsepower (quad-turbo W16)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</a:rPr>
              <a:t>490 km/h recorded run (304.77 mph)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</a:rPr>
              <a:t>0–400 km/h in ~32 seconds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</a:rPr>
              <a:t>440 km/h electronically limited for customers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929BE38A-59E8-2E50-6F18-48E401AC31C6}"/>
              </a:ext>
            </a:extLst>
          </p:cNvPr>
          <p:cNvSpPr txBox="1">
            <a:spLocks/>
          </p:cNvSpPr>
          <p:nvPr/>
        </p:nvSpPr>
        <p:spPr>
          <a:xfrm>
            <a:off x="-909864" y="1668370"/>
            <a:ext cx="12817748" cy="14234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it-IT" sz="7200" dirty="0">
                <a:latin typeface="Bodoni MT" panose="02070603080606020203" pitchFamily="18" charset="0"/>
              </a:rPr>
              <a:t>Antonov An-225</a:t>
            </a:r>
            <a:endParaRPr lang="en-US" sz="7200" dirty="0">
              <a:latin typeface="Bodoni MT" panose="02070603080606020203" pitchFamily="18" charset="0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A7BA2619-B086-0F5F-C2F7-8D147E7224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1083" y="3059183"/>
            <a:ext cx="6033822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GB" sz="2400" dirty="0">
                <a:latin typeface="Bodoni MT" panose="02070603080606020203" pitchFamily="18" charset="0"/>
              </a:rPr>
              <a:t>6 Turbofan engines ~1,370 </a:t>
            </a:r>
            <a:r>
              <a:rPr lang="en-GB" sz="2400" dirty="0" err="1">
                <a:latin typeface="Bodoni MT" panose="02070603080606020203" pitchFamily="18" charset="0"/>
              </a:rPr>
              <a:t>kN</a:t>
            </a:r>
            <a:r>
              <a:rPr lang="en-GB" sz="2400" dirty="0">
                <a:latin typeface="Bodoni MT" panose="02070603080606020203" pitchFamily="18" charset="0"/>
              </a:rPr>
              <a:t> of total thrust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</a:rPr>
              <a:t>Landing gear: 32 wheels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</a:rPr>
              <a:t>Antonov max take-off weight: 640 tons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</a:rPr>
              <a:t>Wingspan: 88 meters</a:t>
            </a:r>
          </a:p>
        </p:txBody>
      </p:sp>
      <p:sp>
        <p:nvSpPr>
          <p:cNvPr id="16" name="Rectangle 1">
            <a:extLst>
              <a:ext uri="{FF2B5EF4-FFF2-40B4-BE49-F238E27FC236}">
                <a16:creationId xmlns:a16="http://schemas.microsoft.com/office/drawing/2014/main" id="{46EDB717-0026-BDAF-B188-27D5083012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22156" y="4146306"/>
            <a:ext cx="10462868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GB" b="1" dirty="0">
                <a:latin typeface="Bodoni MT" panose="02070603080606020203" pitchFamily="18" charset="0"/>
              </a:rPr>
              <a:t>Radar cross-section ≈ 0.001 m²</a:t>
            </a:r>
            <a:r>
              <a:rPr lang="en-GB" dirty="0">
                <a:latin typeface="Bodoni MT" panose="02070603080606020203" pitchFamily="18" charset="0"/>
              </a:rPr>
              <a:t> </a:t>
            </a:r>
          </a:p>
          <a:p>
            <a:r>
              <a:rPr lang="en-GB" dirty="0">
                <a:latin typeface="Bodoni MT" panose="02070603080606020203" pitchFamily="18" charset="0"/>
              </a:rPr>
              <a:t>• </a:t>
            </a:r>
            <a:r>
              <a:rPr lang="en-GB" b="1" dirty="0">
                <a:latin typeface="Bodoni MT" panose="02070603080606020203" pitchFamily="18" charset="0"/>
              </a:rPr>
              <a:t>Top speed: ~993 km/h (Mach 0.92)</a:t>
            </a:r>
            <a:r>
              <a:rPr lang="en-GB" dirty="0">
                <a:latin typeface="Bodoni MT" panose="02070603080606020203" pitchFamily="18" charset="0"/>
              </a:rPr>
              <a:t> </a:t>
            </a:r>
          </a:p>
          <a:p>
            <a:r>
              <a:rPr lang="en-GB" dirty="0">
                <a:latin typeface="Bodoni MT" panose="02070603080606020203" pitchFamily="18" charset="0"/>
              </a:rPr>
              <a:t>• </a:t>
            </a:r>
            <a:r>
              <a:rPr lang="en-GB" b="1" dirty="0">
                <a:latin typeface="Bodoni MT" panose="02070603080606020203" pitchFamily="18" charset="0"/>
              </a:rPr>
              <a:t>Combat radius: ~930 km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doni MT" panose="02070603080606020203" pitchFamily="18" charset="0"/>
            </a:endParaRP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317316C9-A401-B3A2-E618-8A3EF96D2847}"/>
              </a:ext>
            </a:extLst>
          </p:cNvPr>
          <p:cNvSpPr txBox="1">
            <a:spLocks/>
          </p:cNvSpPr>
          <p:nvPr/>
        </p:nvSpPr>
        <p:spPr>
          <a:xfrm>
            <a:off x="19695750" y="1940036"/>
            <a:ext cx="8919481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7200" dirty="0">
                <a:latin typeface="Bodoni MT" panose="02070603080606020203" pitchFamily="18" charset="0"/>
              </a:rPr>
              <a:t>F-117 Nighthawk</a:t>
            </a:r>
          </a:p>
        </p:txBody>
      </p:sp>
      <p:sp>
        <p:nvSpPr>
          <p:cNvPr id="18" name="Slide Number Placeholder 18">
            <a:extLst>
              <a:ext uri="{FF2B5EF4-FFF2-40B4-BE49-F238E27FC236}">
                <a16:creationId xmlns:a16="http://schemas.microsoft.com/office/drawing/2014/main" id="{DA45FE28-3281-8D4E-60C3-46A34D38F985}"/>
              </a:ext>
            </a:extLst>
          </p:cNvPr>
          <p:cNvSpPr txBox="1">
            <a:spLocks/>
          </p:cNvSpPr>
          <p:nvPr/>
        </p:nvSpPr>
        <p:spPr>
          <a:xfrm>
            <a:off x="23657315" y="61248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shade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D381D07-8EA6-4162-980E-CCB506A4D6A3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C82758E-96A5-D239-3994-8011C33038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718610" y="2133595"/>
            <a:ext cx="5275954" cy="2967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9320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4FDC13-E821-32C7-2196-13FF14D35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2475D42-A749-EECF-0E2E-3528A78B27BA}"/>
              </a:ext>
            </a:extLst>
          </p:cNvPr>
          <p:cNvCxnSpPr>
            <a:cxnSpLocks/>
          </p:cNvCxnSpPr>
          <p:nvPr/>
        </p:nvCxnSpPr>
        <p:spPr>
          <a:xfrm>
            <a:off x="-2128262" y="5544939"/>
            <a:ext cx="1571942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12E0CE3F-678F-33C3-249C-259CDF37FF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556" y="2464919"/>
            <a:ext cx="5604894" cy="37200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87C5326-B71E-BA7D-C4EF-CBCF7CDF94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909864" y="-5989389"/>
            <a:ext cx="14011728" cy="2387600"/>
          </a:xfrm>
        </p:spPr>
        <p:txBody>
          <a:bodyPr>
            <a:noAutofit/>
          </a:bodyPr>
          <a:lstStyle/>
          <a:p>
            <a:r>
              <a:rPr lang="en-US" sz="11500" b="1" dirty="0">
                <a:latin typeface="Bodoni MT" panose="02070603080606020203" pitchFamily="18" charset="0"/>
              </a:rPr>
              <a:t>MARVELS</a:t>
            </a:r>
            <a:r>
              <a:rPr lang="en-US" sz="16600" b="1" dirty="0">
                <a:latin typeface="Bodoni MT" panose="02070603080606020203" pitchFamily="18" charset="0"/>
              </a:rPr>
              <a:t> </a:t>
            </a:r>
            <a:r>
              <a:rPr lang="en-US" sz="13800" b="1" dirty="0">
                <a:latin typeface="Bodoni MT" panose="02070603080606020203" pitchFamily="18" charset="0"/>
              </a:rPr>
              <a:t>OF</a:t>
            </a:r>
            <a:r>
              <a:rPr lang="en-US" sz="16600" b="1" dirty="0">
                <a:latin typeface="Bodoni MT" panose="02070603080606020203" pitchFamily="18" charset="0"/>
              </a:rPr>
              <a:t>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B0FB10-61F3-FD70-F46D-584381495B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-4266414"/>
            <a:ext cx="9144000" cy="1655762"/>
          </a:xfrm>
        </p:spPr>
        <p:txBody>
          <a:bodyPr>
            <a:normAutofit/>
          </a:bodyPr>
          <a:lstStyle/>
          <a:p>
            <a:r>
              <a:rPr lang="en-US" sz="6000" b="1" dirty="0">
                <a:latin typeface="Bodoni MT" panose="02070603080606020203" pitchFamily="18" charset="0"/>
              </a:rPr>
              <a:t>ENGINEERING 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EDFD1636-1707-8063-384B-A263A0AA4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81D07-8EA6-4162-980E-CCB506A4D6A3}" type="slidenum">
              <a:rPr lang="en-US" smtClean="0"/>
              <a:t>4</a:t>
            </a:fld>
            <a:endParaRPr lang="en-US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A13E2772-A746-382D-1CEC-3A60E91DC599}"/>
              </a:ext>
            </a:extLst>
          </p:cNvPr>
          <p:cNvSpPr txBox="1">
            <a:spLocks/>
          </p:cNvSpPr>
          <p:nvPr/>
        </p:nvSpPr>
        <p:spPr>
          <a:xfrm>
            <a:off x="1524000" y="-6280613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000" b="1" dirty="0">
                <a:latin typeface="Bodoni MT" panose="02070603080606020203" pitchFamily="18" charset="0"/>
              </a:rPr>
              <a:t>THE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93FC6E3-3FBC-A2C0-1C84-93C17319075F}"/>
              </a:ext>
            </a:extLst>
          </p:cNvPr>
          <p:cNvSpPr txBox="1">
            <a:spLocks/>
          </p:cNvSpPr>
          <p:nvPr/>
        </p:nvSpPr>
        <p:spPr>
          <a:xfrm>
            <a:off x="3469368" y="-2136045"/>
            <a:ext cx="5253264" cy="142342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6600" b="1" dirty="0">
              <a:latin typeface="Bodoni MT" panose="02070603080606020203" pitchFamily="18" charset="0"/>
            </a:endParaRP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83FC283D-E8ED-8C82-709C-27F7DC6B2B18}"/>
              </a:ext>
            </a:extLst>
          </p:cNvPr>
          <p:cNvSpPr txBox="1">
            <a:spLocks/>
          </p:cNvSpPr>
          <p:nvPr/>
        </p:nvSpPr>
        <p:spPr>
          <a:xfrm>
            <a:off x="-13508337" y="1961695"/>
            <a:ext cx="6960053" cy="165576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it-IT" sz="6000" dirty="0">
                <a:latin typeface="Bodoni MT" panose="02070603080606020203" pitchFamily="18" charset="0"/>
              </a:rPr>
              <a:t>Bugatti Chiron Super </a:t>
            </a:r>
          </a:p>
          <a:p>
            <a:pPr algn="l"/>
            <a:r>
              <a:rPr lang="it-IT" sz="6000" dirty="0">
                <a:latin typeface="Bodoni MT" panose="02070603080606020203" pitchFamily="18" charset="0"/>
              </a:rPr>
              <a:t>Sport 300+</a:t>
            </a:r>
            <a:endParaRPr lang="en-US" sz="6000" dirty="0">
              <a:latin typeface="Bodoni MT" panose="02070603080606020203" pitchFamily="18" charset="0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2DDA395C-7C9F-8607-2B43-7AE422A9ED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3130657" y="3780713"/>
            <a:ext cx="4599721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latin typeface="Bodoni MT" panose="02070603080606020203" pitchFamily="18" charset="0"/>
              </a:rPr>
              <a:t>1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</a:rPr>
              <a:t>600 horsepower (quad-turbo W16)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</a:rPr>
              <a:t>490 km/h recorded run (304.77 mph)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</a:rPr>
              <a:t>0–400 km/h in ~32 seconds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</a:rPr>
              <a:t>440 km/h electronically limited for customers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D3201F1-5CA6-3E6F-C181-CFA8BD026B9E}"/>
              </a:ext>
            </a:extLst>
          </p:cNvPr>
          <p:cNvSpPr txBox="1">
            <a:spLocks/>
          </p:cNvSpPr>
          <p:nvPr/>
        </p:nvSpPr>
        <p:spPr>
          <a:xfrm>
            <a:off x="-22639101" y="1663180"/>
            <a:ext cx="7737845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it-IT" sz="6000" dirty="0">
                <a:latin typeface="Bodoni MT" panose="02070603080606020203" pitchFamily="18" charset="0"/>
              </a:rPr>
              <a:t>Antonov An-225</a:t>
            </a:r>
            <a:endParaRPr lang="en-US" sz="6000" dirty="0">
              <a:latin typeface="Bodoni MT" panose="02070603080606020203" pitchFamily="18" charset="0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E7132078-6C82-5EBD-1EE0-5B6A466321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8888013" y="3500619"/>
            <a:ext cx="5174878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B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</a:rPr>
              <a:t>6 massive turbofan engines.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B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</a:rPr>
              <a:t>Landing gear: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B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</a:rPr>
              <a:t>32 wheels.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B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</a:rPr>
              <a:t>Antonov max take-off weight: 640 tons.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B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</a:rPr>
              <a:t>Wingspan: 88 meters — wider than a football field.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C932284F-D4A7-87C2-0677-9721118D6C03}"/>
              </a:ext>
            </a:extLst>
          </p:cNvPr>
          <p:cNvSpPr txBox="1">
            <a:spLocks/>
          </p:cNvSpPr>
          <p:nvPr/>
        </p:nvSpPr>
        <p:spPr>
          <a:xfrm>
            <a:off x="-7521198" y="1798439"/>
            <a:ext cx="6960053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6000" dirty="0">
                <a:latin typeface="Bodoni MT" panose="02070603080606020203" pitchFamily="18" charset="0"/>
              </a:rPr>
              <a:t>Taipei 101</a:t>
            </a:r>
          </a:p>
        </p:txBody>
      </p:sp>
      <p:sp>
        <p:nvSpPr>
          <p:cNvPr id="16" name="Rectangle 1">
            <a:extLst>
              <a:ext uri="{FF2B5EF4-FFF2-40B4-BE49-F238E27FC236}">
                <a16:creationId xmlns:a16="http://schemas.microsoft.com/office/drawing/2014/main" id="{2BF0BF27-8AD6-3A97-FFE2-05D373BC6E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1568502" y="3960016"/>
            <a:ext cx="585705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</a:rPr>
              <a:t>Height: 508 meters.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</a:rPr>
              <a:t>That’s taller than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</a:rPr>
              <a:t>3 Qutub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</a:rPr>
              <a:t>Minars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</a:rPr>
              <a:t> stacked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</a:rPr>
              <a:t>The damper ball weighs as much as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</a:rPr>
              <a:t>130 African elephants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</a:rPr>
              <a:t>.</a:t>
            </a:r>
          </a:p>
        </p:txBody>
      </p:sp>
      <p:sp>
        <p:nvSpPr>
          <p:cNvPr id="18" name="Rectangle 1">
            <a:extLst>
              <a:ext uri="{FF2B5EF4-FFF2-40B4-BE49-F238E27FC236}">
                <a16:creationId xmlns:a16="http://schemas.microsoft.com/office/drawing/2014/main" id="{3DE39A8E-BE0E-C591-D20E-FAAA2C9302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1450" y="3617457"/>
            <a:ext cx="10462868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Bodoni MT" panose="02070603080606020203" pitchFamily="18" charset="0"/>
              </a:rPr>
              <a:t>Radar cross-section ≈ 0.001 m²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Bodoni MT" panose="02070603080606020203" pitchFamily="18" charset="0"/>
              </a:rPr>
              <a:t>Subsonic speed (~993 km/h, Mach 0.92)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Bodoni MT" panose="02070603080606020203" pitchFamily="18" charset="0"/>
              </a:rPr>
              <a:t>Designed for precision ground-attack missions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Bodoni MT" panose="02070603080606020203" pitchFamily="18" charset="0"/>
              </a:rPr>
              <a:t>Used in Panama, Gulf War, and Kosovo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doni MT" panose="02070603080606020203" pitchFamily="18" charset="0"/>
            </a:endParaRP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B2074804-FD0C-F4FA-DC1F-F9A5FEA754EB}"/>
              </a:ext>
            </a:extLst>
          </p:cNvPr>
          <p:cNvSpPr txBox="1">
            <a:spLocks/>
          </p:cNvSpPr>
          <p:nvPr/>
        </p:nvSpPr>
        <p:spPr>
          <a:xfrm>
            <a:off x="5201566" y="1844857"/>
            <a:ext cx="8919481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7200" dirty="0">
                <a:latin typeface="Bodoni MT" panose="02070603080606020203" pitchFamily="18" charset="0"/>
              </a:rPr>
              <a:t>F-117 Nighthawk</a:t>
            </a:r>
          </a:p>
        </p:txBody>
      </p:sp>
      <p:sp>
        <p:nvSpPr>
          <p:cNvPr id="33" name="Subtitle 2">
            <a:extLst>
              <a:ext uri="{FF2B5EF4-FFF2-40B4-BE49-F238E27FC236}">
                <a16:creationId xmlns:a16="http://schemas.microsoft.com/office/drawing/2014/main" id="{E3AC768E-D94D-FDFD-81DC-26978580DC76}"/>
              </a:ext>
            </a:extLst>
          </p:cNvPr>
          <p:cNvSpPr txBox="1">
            <a:spLocks/>
          </p:cNvSpPr>
          <p:nvPr/>
        </p:nvSpPr>
        <p:spPr>
          <a:xfrm>
            <a:off x="17836589" y="1844857"/>
            <a:ext cx="10137157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7200" dirty="0">
                <a:latin typeface="Bodoni MT" panose="02070603080606020203" pitchFamily="18" charset="0"/>
              </a:rPr>
              <a:t>ASML EUV Lithography</a:t>
            </a:r>
          </a:p>
        </p:txBody>
      </p:sp>
      <p:sp>
        <p:nvSpPr>
          <p:cNvPr id="34" name="Rectangle 1">
            <a:extLst>
              <a:ext uri="{FF2B5EF4-FFF2-40B4-BE49-F238E27FC236}">
                <a16:creationId xmlns:a16="http://schemas.microsoft.com/office/drawing/2014/main" id="{53EF14D8-42C3-43F4-1FBA-EB3FAAA291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01239" y="3673586"/>
            <a:ext cx="9271894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600" dirty="0">
                <a:latin typeface="Bodoni MT" panose="02070603080606020203" pitchFamily="18" charset="0"/>
              </a:rPr>
              <a:t>Shrinking transistors below the size of a virus couldn’t be done with older techniques.</a:t>
            </a:r>
            <a:br>
              <a:rPr lang="en-GB" sz="1600" dirty="0">
                <a:latin typeface="Bodoni MT" panose="02070603080606020203" pitchFamily="18" charset="0"/>
              </a:rPr>
            </a:br>
            <a:r>
              <a:rPr lang="en-GB" sz="1600" dirty="0">
                <a:latin typeface="Bodoni MT" panose="02070603080606020203" pitchFamily="18" charset="0"/>
              </a:rPr>
              <a:t>So engineers invented a light source that’s </a:t>
            </a:r>
            <a:r>
              <a:rPr lang="en-GB" sz="1600" b="1" dirty="0">
                <a:latin typeface="Bodoni MT" panose="02070603080606020203" pitchFamily="18" charset="0"/>
              </a:rPr>
              <a:t>way smaller than the atoms it images</a:t>
            </a:r>
            <a:r>
              <a:rPr lang="en-GB" sz="1600" dirty="0">
                <a:latin typeface="Bodoni MT" panose="02070603080606020203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600" dirty="0">
                <a:latin typeface="Bodoni MT" panose="02070603080606020203" pitchFamily="18" charset="0"/>
              </a:rPr>
              <a:t>Without it, modern computing simply can’t advance.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doni MT" panose="02070603080606020203" pitchFamily="18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87527D3-EED8-B3BB-904E-3632928D36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973209" y="1339305"/>
            <a:ext cx="5400675" cy="303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097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4A7E85-0609-262A-614F-8D23110F8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A5775A7-06AA-5D0E-8C33-AC1CBCB3EB84}"/>
              </a:ext>
            </a:extLst>
          </p:cNvPr>
          <p:cNvCxnSpPr>
            <a:cxnSpLocks/>
          </p:cNvCxnSpPr>
          <p:nvPr/>
        </p:nvCxnSpPr>
        <p:spPr>
          <a:xfrm>
            <a:off x="-2127591" y="1829162"/>
            <a:ext cx="252827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9912C7-010B-148F-A793-1A52855CC5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909864" y="-5989389"/>
            <a:ext cx="14011728" cy="2387600"/>
          </a:xfrm>
        </p:spPr>
        <p:txBody>
          <a:bodyPr>
            <a:noAutofit/>
          </a:bodyPr>
          <a:lstStyle/>
          <a:p>
            <a:r>
              <a:rPr lang="en-US" sz="11500" b="1" dirty="0">
                <a:latin typeface="Bodoni MT" panose="02070603080606020203" pitchFamily="18" charset="0"/>
              </a:rPr>
              <a:t>MARVELS</a:t>
            </a:r>
            <a:r>
              <a:rPr lang="en-US" sz="16600" b="1" dirty="0">
                <a:latin typeface="Bodoni MT" panose="02070603080606020203" pitchFamily="18" charset="0"/>
              </a:rPr>
              <a:t> </a:t>
            </a:r>
            <a:r>
              <a:rPr lang="en-US" sz="13800" b="1" dirty="0">
                <a:latin typeface="Bodoni MT" panose="02070603080606020203" pitchFamily="18" charset="0"/>
              </a:rPr>
              <a:t>OF</a:t>
            </a:r>
            <a:r>
              <a:rPr lang="en-US" sz="16600" b="1" dirty="0">
                <a:latin typeface="Bodoni MT" panose="02070603080606020203" pitchFamily="18" charset="0"/>
              </a:rPr>
              <a:t>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F1B7E5-218C-421B-950D-C22786D4F4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-4266414"/>
            <a:ext cx="9144000" cy="1655762"/>
          </a:xfrm>
        </p:spPr>
        <p:txBody>
          <a:bodyPr>
            <a:normAutofit/>
          </a:bodyPr>
          <a:lstStyle/>
          <a:p>
            <a:r>
              <a:rPr lang="en-US" sz="6000" b="1" dirty="0">
                <a:latin typeface="Bodoni MT" panose="02070603080606020203" pitchFamily="18" charset="0"/>
              </a:rPr>
              <a:t>ENGINEERING 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8148E0DD-84CC-B197-7A3F-EE0F62F83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81D07-8EA6-4162-980E-CCB506A4D6A3}" type="slidenum">
              <a:rPr lang="en-US" smtClean="0"/>
              <a:t>5</a:t>
            </a:fld>
            <a:endParaRPr lang="en-US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40F9445-7659-2695-6023-E9CBF6838216}"/>
              </a:ext>
            </a:extLst>
          </p:cNvPr>
          <p:cNvSpPr txBox="1">
            <a:spLocks/>
          </p:cNvSpPr>
          <p:nvPr/>
        </p:nvSpPr>
        <p:spPr>
          <a:xfrm>
            <a:off x="1524000" y="-6280613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000" b="1" dirty="0">
                <a:latin typeface="Bodoni MT" panose="02070603080606020203" pitchFamily="18" charset="0"/>
              </a:rPr>
              <a:t>THE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383B708-689E-C10E-07D7-29BAE144675F}"/>
              </a:ext>
            </a:extLst>
          </p:cNvPr>
          <p:cNvSpPr txBox="1">
            <a:spLocks/>
          </p:cNvSpPr>
          <p:nvPr/>
        </p:nvSpPr>
        <p:spPr>
          <a:xfrm>
            <a:off x="3469368" y="-2136045"/>
            <a:ext cx="5253264" cy="142342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6600" b="1" dirty="0">
              <a:latin typeface="Bodoni MT" panose="02070603080606020203" pitchFamily="18" charset="0"/>
            </a:endParaRP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8F35447B-BFC7-521C-32E5-EF43479C5D8A}"/>
              </a:ext>
            </a:extLst>
          </p:cNvPr>
          <p:cNvSpPr txBox="1">
            <a:spLocks/>
          </p:cNvSpPr>
          <p:nvPr/>
        </p:nvSpPr>
        <p:spPr>
          <a:xfrm>
            <a:off x="-13508337" y="1961695"/>
            <a:ext cx="6960053" cy="165576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it-IT" sz="6000" dirty="0">
                <a:latin typeface="Bodoni MT" panose="02070603080606020203" pitchFamily="18" charset="0"/>
              </a:rPr>
              <a:t>Bugatti Chiron Super </a:t>
            </a:r>
          </a:p>
          <a:p>
            <a:pPr algn="l"/>
            <a:r>
              <a:rPr lang="it-IT" sz="6000" dirty="0">
                <a:latin typeface="Bodoni MT" panose="02070603080606020203" pitchFamily="18" charset="0"/>
              </a:rPr>
              <a:t>Sport 300+</a:t>
            </a:r>
            <a:endParaRPr lang="en-US" sz="6000" dirty="0">
              <a:latin typeface="Bodoni MT" panose="02070603080606020203" pitchFamily="18" charset="0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28A4ED21-8894-A283-FF22-B317084A18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3130657" y="3780713"/>
            <a:ext cx="4599721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latin typeface="Bodoni MT" panose="02070603080606020203" pitchFamily="18" charset="0"/>
              </a:rPr>
              <a:t>1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</a:rPr>
              <a:t>600 horsepower (quad-turbo W16)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</a:rPr>
              <a:t>490 km/h recorded run (304.77 mph)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</a:rPr>
              <a:t>0–400 km/h in ~32 seconds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</a:rPr>
              <a:t>440 km/h electronically limited for customers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AC576F76-558D-44EE-1104-6E798A7EEEEC}"/>
              </a:ext>
            </a:extLst>
          </p:cNvPr>
          <p:cNvSpPr txBox="1">
            <a:spLocks/>
          </p:cNvSpPr>
          <p:nvPr/>
        </p:nvSpPr>
        <p:spPr>
          <a:xfrm>
            <a:off x="-22639101" y="1663180"/>
            <a:ext cx="7737845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it-IT" sz="6000" dirty="0">
                <a:latin typeface="Bodoni MT" panose="02070603080606020203" pitchFamily="18" charset="0"/>
              </a:rPr>
              <a:t>Antonov An-225</a:t>
            </a:r>
            <a:endParaRPr lang="en-US" sz="6000" dirty="0">
              <a:latin typeface="Bodoni MT" panose="02070603080606020203" pitchFamily="18" charset="0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287F81A7-1B18-3AF8-A88A-BFDF46A250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8888013" y="3500619"/>
            <a:ext cx="5174878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B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</a:rPr>
              <a:t>6 massive turbofan engines.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B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</a:rPr>
              <a:t>Landing gear: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B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</a:rPr>
              <a:t>32 wheels.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B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</a:rPr>
              <a:t>Antonov max take-off weight: 640 tons.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B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</a:rPr>
              <a:t>Wingspan: 88 meters — wider than a football field.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B9EADCF3-3AC6-56E8-4215-514AFDADDFB6}"/>
              </a:ext>
            </a:extLst>
          </p:cNvPr>
          <p:cNvSpPr txBox="1">
            <a:spLocks/>
          </p:cNvSpPr>
          <p:nvPr/>
        </p:nvSpPr>
        <p:spPr>
          <a:xfrm>
            <a:off x="-7521198" y="1798439"/>
            <a:ext cx="6960053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6000" dirty="0">
                <a:latin typeface="Bodoni MT" panose="02070603080606020203" pitchFamily="18" charset="0"/>
              </a:rPr>
              <a:t>Taipei 101</a:t>
            </a:r>
          </a:p>
        </p:txBody>
      </p:sp>
      <p:sp>
        <p:nvSpPr>
          <p:cNvPr id="16" name="Rectangle 1">
            <a:extLst>
              <a:ext uri="{FF2B5EF4-FFF2-40B4-BE49-F238E27FC236}">
                <a16:creationId xmlns:a16="http://schemas.microsoft.com/office/drawing/2014/main" id="{06AC80A0-3E2F-9AAD-6061-F677AC919A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1568502" y="3960016"/>
            <a:ext cx="585705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</a:rPr>
              <a:t>Height: 508 meters.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</a:rPr>
              <a:t>That’s taller than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</a:rPr>
              <a:t>3 Qutub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</a:rPr>
              <a:t>Minars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</a:rPr>
              <a:t> stacked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</a:rPr>
              <a:t>The damper ball weighs as much as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</a:rPr>
              <a:t>130 African elephants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</a:rPr>
              <a:t>.</a:t>
            </a:r>
          </a:p>
        </p:txBody>
      </p:sp>
      <p:sp>
        <p:nvSpPr>
          <p:cNvPr id="18" name="Rectangle 1">
            <a:extLst>
              <a:ext uri="{FF2B5EF4-FFF2-40B4-BE49-F238E27FC236}">
                <a16:creationId xmlns:a16="http://schemas.microsoft.com/office/drawing/2014/main" id="{D8F2B416-1173-CFC9-B486-542631E377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3730734" y="4201151"/>
            <a:ext cx="10462868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GB" dirty="0">
                <a:latin typeface="Bodoni MT" panose="02070603080606020203" pitchFamily="18" charset="0"/>
              </a:rPr>
              <a:t>Built by over 10,000 scientists from 100+ countries.</a:t>
            </a:r>
            <a:br>
              <a:rPr lang="en-GB" dirty="0">
                <a:latin typeface="Bodoni MT" panose="02070603080606020203" pitchFamily="18" charset="0"/>
              </a:rPr>
            </a:br>
            <a:r>
              <a:rPr lang="en-GB" dirty="0">
                <a:latin typeface="Bodoni MT" panose="02070603080606020203" pitchFamily="18" charset="0"/>
              </a:rPr>
              <a:t>One of the most expensive scientific instruments ever created (~$9 billion construction).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GB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</a:rPr>
              <a:t>Temperature inside magnets: –271°C (colder than outer space).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GB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</a:rPr>
              <a:t>Produces conditions similar to the first trillionth of a second after the Big Bang.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GB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</a:rPr>
              <a:t>Discovered the Higgs Boson in 2012.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doni MT" panose="02070603080606020203" pitchFamily="18" charset="0"/>
            </a:endParaRP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FFEA3040-E3B7-57C4-16A3-5E1A782D6D0E}"/>
              </a:ext>
            </a:extLst>
          </p:cNvPr>
          <p:cNvSpPr txBox="1">
            <a:spLocks/>
          </p:cNvSpPr>
          <p:nvPr/>
        </p:nvSpPr>
        <p:spPr>
          <a:xfrm>
            <a:off x="-10861598" y="1073420"/>
            <a:ext cx="8919481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7200" b="1" dirty="0">
                <a:latin typeface="Bodoni MT" panose="02070603080606020203" pitchFamily="18" charset="0"/>
              </a:rPr>
              <a:t>Large Hadron </a:t>
            </a:r>
            <a:r>
              <a:rPr lang="en-US" sz="7200" dirty="0">
                <a:latin typeface="Bodoni MT" panose="02070603080606020203" pitchFamily="18" charset="0"/>
              </a:rPr>
              <a:t>Collider</a:t>
            </a:r>
          </a:p>
        </p:txBody>
      </p:sp>
      <p:sp>
        <p:nvSpPr>
          <p:cNvPr id="21" name="Rectangle 1">
            <a:extLst>
              <a:ext uri="{FF2B5EF4-FFF2-40B4-BE49-F238E27FC236}">
                <a16:creationId xmlns:a16="http://schemas.microsoft.com/office/drawing/2014/main" id="{C819A35D-11D6-EC45-B4A6-A709AB55DF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9025" y="2789576"/>
            <a:ext cx="9271894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Bodoni MT" panose="02070603080606020203" pitchFamily="18" charset="0"/>
              </a:rPr>
              <a:t>Uses extreme ultraviolet light (13.5 nm wavelength)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Bodoni MT" panose="02070603080606020203" pitchFamily="18" charset="0"/>
              </a:rPr>
              <a:t>Enables fabrication of advanced chips (5 nm, 3 nm nodes)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Bodoni MT" panose="02070603080606020203" pitchFamily="18" charset="0"/>
              </a:rPr>
              <a:t>Developed by ASML for high-precision chip patterning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Bodoni MT" panose="02070603080606020203" pitchFamily="18" charset="0"/>
              </a:rPr>
              <a:t>Critical for modern processors, AI, and smartphones </a:t>
            </a:r>
          </a:p>
        </p:txBody>
      </p:sp>
      <p:sp>
        <p:nvSpPr>
          <p:cNvPr id="23" name="Subtitle 2">
            <a:extLst>
              <a:ext uri="{FF2B5EF4-FFF2-40B4-BE49-F238E27FC236}">
                <a16:creationId xmlns:a16="http://schemas.microsoft.com/office/drawing/2014/main" id="{C5CA99AC-EBDC-9670-8875-4E002A39FB4D}"/>
              </a:ext>
            </a:extLst>
          </p:cNvPr>
          <p:cNvSpPr txBox="1">
            <a:spLocks/>
          </p:cNvSpPr>
          <p:nvPr/>
        </p:nvSpPr>
        <p:spPr>
          <a:xfrm>
            <a:off x="530843" y="1282592"/>
            <a:ext cx="10137157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7200" dirty="0">
                <a:latin typeface="Bodoni MT" panose="02070603080606020203" pitchFamily="18" charset="0"/>
              </a:rPr>
              <a:t>ASML EUV Lithography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06F73FD3-5E9B-9E0C-1B77-364B5BDE2C73}"/>
              </a:ext>
            </a:extLst>
          </p:cNvPr>
          <p:cNvSpPr txBox="1">
            <a:spLocks/>
          </p:cNvSpPr>
          <p:nvPr/>
        </p:nvSpPr>
        <p:spPr>
          <a:xfrm>
            <a:off x="-10312351" y="-2197082"/>
            <a:ext cx="5253264" cy="142342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6600" b="1" dirty="0">
              <a:latin typeface="Bodoni MT" panose="02070603080606020203" pitchFamily="18" charset="0"/>
            </a:endParaRPr>
          </a:p>
        </p:txBody>
      </p:sp>
      <p:sp>
        <p:nvSpPr>
          <p:cNvPr id="25" name="Subtitle 2">
            <a:extLst>
              <a:ext uri="{FF2B5EF4-FFF2-40B4-BE49-F238E27FC236}">
                <a16:creationId xmlns:a16="http://schemas.microsoft.com/office/drawing/2014/main" id="{3F228103-3AA5-959B-4E17-B75B2C3658E1}"/>
              </a:ext>
            </a:extLst>
          </p:cNvPr>
          <p:cNvSpPr txBox="1">
            <a:spLocks/>
          </p:cNvSpPr>
          <p:nvPr/>
        </p:nvSpPr>
        <p:spPr>
          <a:xfrm>
            <a:off x="-9132684" y="2110473"/>
            <a:ext cx="8919481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7200" dirty="0">
                <a:latin typeface="Bodoni MT" panose="02070603080606020203" pitchFamily="18" charset="0"/>
              </a:rPr>
              <a:t>F-117 Nighthawk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31237AD3-2A32-5478-0672-95B77ADC67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914073" y="1831519"/>
            <a:ext cx="5381625" cy="3571875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04D79E85-FD90-B75C-E87D-7743F958257B}"/>
              </a:ext>
            </a:extLst>
          </p:cNvPr>
          <p:cNvSpPr txBox="1">
            <a:spLocks/>
          </p:cNvSpPr>
          <p:nvPr/>
        </p:nvSpPr>
        <p:spPr>
          <a:xfrm>
            <a:off x="530843" y="5996544"/>
            <a:ext cx="7814129" cy="14804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6000" dirty="0">
                <a:latin typeface="Bodoni MT" panose="02070603080606020203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2340754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211</TotalTime>
  <Words>612</Words>
  <Application>Microsoft Office PowerPoint</Application>
  <PresentationFormat>Widescreen</PresentationFormat>
  <Paragraphs>109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Bodoni MT</vt:lpstr>
      <vt:lpstr>1_Office Theme</vt:lpstr>
      <vt:lpstr>Office Theme</vt:lpstr>
      <vt:lpstr>MARVELS OF </vt:lpstr>
      <vt:lpstr>MARVELS OF </vt:lpstr>
      <vt:lpstr>MARVELS OF </vt:lpstr>
      <vt:lpstr>MARVELS OF </vt:lpstr>
      <vt:lpstr>MARVELS OF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Calvin Dsouza</dc:creator>
  <cp:lastModifiedBy>Calvin Dsouza</cp:lastModifiedBy>
  <cp:revision>29</cp:revision>
  <dcterms:created xsi:type="dcterms:W3CDTF">2026-02-22T14:21:36Z</dcterms:created>
  <dcterms:modified xsi:type="dcterms:W3CDTF">2026-05-03T16:56:57Z</dcterms:modified>
</cp:coreProperties>
</file>