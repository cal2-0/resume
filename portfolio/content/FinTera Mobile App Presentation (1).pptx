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Roboto" charset="1" panose="02000000000000000000"/>
      <p:regular r:id="rId12"/>
    </p:embeddedFont>
    <p:embeddedFont>
      <p:font typeface="Roboto Bold" charset="1" panose="02000000000000000000"/>
      <p:regular r:id="rId13"/>
    </p:embeddedFont>
    <p:embeddedFont>
      <p:font typeface="Yeseva One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2.pn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6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jpeg" Type="http://schemas.openxmlformats.org/officeDocument/2006/relationships/image"/><Relationship Id="rId15" Target="../media/VAG0JUCrVaU.mp4" Type="http://schemas.openxmlformats.org/officeDocument/2006/relationships/video"/><Relationship Id="rId16" Target="../media/VAG0JUCrVaU.mp4" Type="http://schemas.microsoft.com/office/2007/relationships/media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20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97147" y="4171690"/>
            <a:ext cx="10173221" cy="10173221"/>
          </a:xfrm>
          <a:custGeom>
            <a:avLst/>
            <a:gdLst/>
            <a:ahLst/>
            <a:cxnLst/>
            <a:rect r="r" b="b" t="t" l="l"/>
            <a:pathLst>
              <a:path h="10173221" w="10173221">
                <a:moveTo>
                  <a:pt x="0" y="0"/>
                </a:moveTo>
                <a:lnTo>
                  <a:pt x="10173221" y="0"/>
                </a:lnTo>
                <a:lnTo>
                  <a:pt x="10173221" y="10173220"/>
                </a:lnTo>
                <a:lnTo>
                  <a:pt x="0" y="10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53756" y="1276985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8" y="0"/>
                </a:lnTo>
                <a:lnTo>
                  <a:pt x="17011088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188432" y="-9703875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4" y="0"/>
                </a:lnTo>
                <a:lnTo>
                  <a:pt x="16376864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81790" y="2579910"/>
            <a:ext cx="6177510" cy="6678390"/>
          </a:xfrm>
          <a:custGeom>
            <a:avLst/>
            <a:gdLst/>
            <a:ahLst/>
            <a:cxnLst/>
            <a:rect r="r" b="b" t="t" l="l"/>
            <a:pathLst>
              <a:path h="6678390" w="6177510">
                <a:moveTo>
                  <a:pt x="0" y="0"/>
                </a:moveTo>
                <a:lnTo>
                  <a:pt x="6177510" y="0"/>
                </a:lnTo>
                <a:lnTo>
                  <a:pt x="6177510" y="6678390"/>
                </a:lnTo>
                <a:lnTo>
                  <a:pt x="0" y="66783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12513" y="8422886"/>
            <a:ext cx="2265634" cy="835414"/>
            <a:chOff x="0" y="0"/>
            <a:chExt cx="596710" cy="2200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6710" cy="220027"/>
            </a:xfrm>
            <a:custGeom>
              <a:avLst/>
              <a:gdLst/>
              <a:ahLst/>
              <a:cxnLst/>
              <a:rect r="r" b="b" t="t" l="l"/>
              <a:pathLst>
                <a:path h="220027" w="596710">
                  <a:moveTo>
                    <a:pt x="110013" y="0"/>
                  </a:moveTo>
                  <a:lnTo>
                    <a:pt x="486697" y="0"/>
                  </a:lnTo>
                  <a:cubicBezTo>
                    <a:pt x="547456" y="0"/>
                    <a:pt x="596710" y="49255"/>
                    <a:pt x="596710" y="110013"/>
                  </a:cubicBezTo>
                  <a:lnTo>
                    <a:pt x="596710" y="110013"/>
                  </a:lnTo>
                  <a:cubicBezTo>
                    <a:pt x="596710" y="170772"/>
                    <a:pt x="547456" y="220027"/>
                    <a:pt x="486697" y="220027"/>
                  </a:cubicBezTo>
                  <a:lnTo>
                    <a:pt x="110013" y="220027"/>
                  </a:lnTo>
                  <a:cubicBezTo>
                    <a:pt x="49255" y="220027"/>
                    <a:pt x="0" y="170772"/>
                    <a:pt x="0" y="110013"/>
                  </a:cubicBezTo>
                  <a:lnTo>
                    <a:pt x="0" y="110013"/>
                  </a:lnTo>
                  <a:cubicBezTo>
                    <a:pt x="0" y="49255"/>
                    <a:pt x="49255" y="0"/>
                    <a:pt x="110013" y="0"/>
                  </a:cubicBezTo>
                  <a:close/>
                </a:path>
              </a:pathLst>
            </a:custGeom>
            <a:solidFill>
              <a:srgbClr val="00FF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6710" cy="258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5969" y="8714859"/>
            <a:ext cx="218106" cy="271783"/>
          </a:xfrm>
          <a:custGeom>
            <a:avLst/>
            <a:gdLst/>
            <a:ahLst/>
            <a:cxnLst/>
            <a:rect r="r" b="b" t="t" l="l"/>
            <a:pathLst>
              <a:path h="271783" w="218106">
                <a:moveTo>
                  <a:pt x="0" y="0"/>
                </a:moveTo>
                <a:lnTo>
                  <a:pt x="218106" y="0"/>
                </a:lnTo>
                <a:lnTo>
                  <a:pt x="218106" y="271784"/>
                </a:lnTo>
                <a:lnTo>
                  <a:pt x="0" y="2717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223892" y="1476235"/>
            <a:ext cx="1137396" cy="47625"/>
            <a:chOff x="0" y="0"/>
            <a:chExt cx="299561" cy="125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12513" y="2317550"/>
            <a:ext cx="7416980" cy="64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51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FinTastic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2513" y="3113590"/>
            <a:ext cx="9368656" cy="368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8654" spc="-22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GenAI for Financial Empowerment</a:t>
            </a:r>
          </a:p>
          <a:p>
            <a:pPr algn="l">
              <a:lnSpc>
                <a:spcPts val="1170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512513" y="5209175"/>
            <a:ext cx="10216351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Student Innovation: Swadeshi for Atmanirbhar Bharat - Miscellaneous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Technology ideas in tertiary sectors like Hospitality, Financial Services, Entertainment and Retail.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95050" y="8628502"/>
            <a:ext cx="1399255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151B1F"/>
                </a:solidFill>
                <a:latin typeface="Roboto Bold"/>
                <a:ea typeface="Roboto Bold"/>
                <a:cs typeface="Roboto Bold"/>
                <a:sym typeface="Roboto Bold"/>
              </a:rPr>
              <a:t>Next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12513" y="845185"/>
            <a:ext cx="5615254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SIH:25132</a:t>
            </a:r>
          </a:p>
          <a:p>
            <a:pPr algn="l">
              <a:lnSpc>
                <a:spcPts val="350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About 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2513" y="6748206"/>
            <a:ext cx="9368656" cy="365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Team Members: Calvin, Erum, Hitesh, HIthansh, Narayanan, Sujal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07955" y="-9492011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2513" y="8422886"/>
            <a:ext cx="2265634" cy="835414"/>
            <a:chOff x="0" y="0"/>
            <a:chExt cx="596710" cy="2200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6710" cy="220027"/>
            </a:xfrm>
            <a:custGeom>
              <a:avLst/>
              <a:gdLst/>
              <a:ahLst/>
              <a:cxnLst/>
              <a:rect r="r" b="b" t="t" l="l"/>
              <a:pathLst>
                <a:path h="220027" w="596710">
                  <a:moveTo>
                    <a:pt x="110013" y="0"/>
                  </a:moveTo>
                  <a:lnTo>
                    <a:pt x="486697" y="0"/>
                  </a:lnTo>
                  <a:cubicBezTo>
                    <a:pt x="547456" y="0"/>
                    <a:pt x="596710" y="49255"/>
                    <a:pt x="596710" y="110013"/>
                  </a:cubicBezTo>
                  <a:lnTo>
                    <a:pt x="596710" y="110013"/>
                  </a:lnTo>
                  <a:cubicBezTo>
                    <a:pt x="596710" y="170772"/>
                    <a:pt x="547456" y="220027"/>
                    <a:pt x="486697" y="220027"/>
                  </a:cubicBezTo>
                  <a:lnTo>
                    <a:pt x="110013" y="220027"/>
                  </a:lnTo>
                  <a:cubicBezTo>
                    <a:pt x="49255" y="220027"/>
                    <a:pt x="0" y="170772"/>
                    <a:pt x="0" y="110013"/>
                  </a:cubicBezTo>
                  <a:lnTo>
                    <a:pt x="0" y="110013"/>
                  </a:lnTo>
                  <a:cubicBezTo>
                    <a:pt x="0" y="49255"/>
                    <a:pt x="49255" y="0"/>
                    <a:pt x="110013" y="0"/>
                  </a:cubicBezTo>
                  <a:close/>
                </a:path>
              </a:pathLst>
            </a:custGeom>
            <a:solidFill>
              <a:srgbClr val="47555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6710" cy="258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3227326" y="8704702"/>
            <a:ext cx="218106" cy="271783"/>
          </a:xfrm>
          <a:custGeom>
            <a:avLst/>
            <a:gdLst/>
            <a:ahLst/>
            <a:cxnLst/>
            <a:rect r="r" b="b" t="t" l="l"/>
            <a:pathLst>
              <a:path h="271783" w="218106">
                <a:moveTo>
                  <a:pt x="218106" y="0"/>
                </a:moveTo>
                <a:lnTo>
                  <a:pt x="0" y="0"/>
                </a:lnTo>
                <a:lnTo>
                  <a:pt x="0" y="271783"/>
                </a:lnTo>
                <a:lnTo>
                  <a:pt x="218106" y="271783"/>
                </a:lnTo>
                <a:lnTo>
                  <a:pt x="2181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969307" y="8422886"/>
            <a:ext cx="2265634" cy="835414"/>
            <a:chOff x="0" y="0"/>
            <a:chExt cx="596710" cy="2200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6710" cy="220027"/>
            </a:xfrm>
            <a:custGeom>
              <a:avLst/>
              <a:gdLst/>
              <a:ahLst/>
              <a:cxnLst/>
              <a:rect r="r" b="b" t="t" l="l"/>
              <a:pathLst>
                <a:path h="220027" w="596710">
                  <a:moveTo>
                    <a:pt x="110013" y="0"/>
                  </a:moveTo>
                  <a:lnTo>
                    <a:pt x="486697" y="0"/>
                  </a:lnTo>
                  <a:cubicBezTo>
                    <a:pt x="547456" y="0"/>
                    <a:pt x="596710" y="49255"/>
                    <a:pt x="596710" y="110013"/>
                  </a:cubicBezTo>
                  <a:lnTo>
                    <a:pt x="596710" y="110013"/>
                  </a:lnTo>
                  <a:cubicBezTo>
                    <a:pt x="596710" y="170772"/>
                    <a:pt x="547456" y="220027"/>
                    <a:pt x="486697" y="220027"/>
                  </a:cubicBezTo>
                  <a:lnTo>
                    <a:pt x="110013" y="220027"/>
                  </a:lnTo>
                  <a:cubicBezTo>
                    <a:pt x="49255" y="220027"/>
                    <a:pt x="0" y="170772"/>
                    <a:pt x="0" y="110013"/>
                  </a:cubicBezTo>
                  <a:lnTo>
                    <a:pt x="0" y="110013"/>
                  </a:lnTo>
                  <a:cubicBezTo>
                    <a:pt x="0" y="49255"/>
                    <a:pt x="49255" y="0"/>
                    <a:pt x="110013" y="0"/>
                  </a:cubicBezTo>
                  <a:close/>
                </a:path>
              </a:pathLst>
            </a:custGeom>
            <a:solidFill>
              <a:srgbClr val="00FFF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96710" cy="258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171813" y="8714859"/>
            <a:ext cx="218106" cy="271783"/>
          </a:xfrm>
          <a:custGeom>
            <a:avLst/>
            <a:gdLst/>
            <a:ahLst/>
            <a:cxnLst/>
            <a:rect r="r" b="b" t="t" l="l"/>
            <a:pathLst>
              <a:path h="271783" w="218106">
                <a:moveTo>
                  <a:pt x="0" y="0"/>
                </a:moveTo>
                <a:lnTo>
                  <a:pt x="218107" y="0"/>
                </a:lnTo>
                <a:lnTo>
                  <a:pt x="218107" y="271784"/>
                </a:lnTo>
                <a:lnTo>
                  <a:pt x="0" y="2717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97147" y="4171690"/>
            <a:ext cx="10173221" cy="10173221"/>
          </a:xfrm>
          <a:custGeom>
            <a:avLst/>
            <a:gdLst/>
            <a:ahLst/>
            <a:cxnLst/>
            <a:rect r="r" b="b" t="t" l="l"/>
            <a:pathLst>
              <a:path h="10173221" w="10173221">
                <a:moveTo>
                  <a:pt x="0" y="0"/>
                </a:moveTo>
                <a:lnTo>
                  <a:pt x="10173221" y="0"/>
                </a:lnTo>
                <a:lnTo>
                  <a:pt x="10173221" y="10173220"/>
                </a:lnTo>
                <a:lnTo>
                  <a:pt x="0" y="10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53756" y="1276985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8" y="0"/>
                </a:lnTo>
                <a:lnTo>
                  <a:pt x="17011088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329596" y="2797939"/>
            <a:ext cx="5114557" cy="2058609"/>
          </a:xfrm>
          <a:custGeom>
            <a:avLst/>
            <a:gdLst/>
            <a:ahLst/>
            <a:cxnLst/>
            <a:rect r="r" b="b" t="t" l="l"/>
            <a:pathLst>
              <a:path h="2058609" w="5114557">
                <a:moveTo>
                  <a:pt x="0" y="0"/>
                </a:moveTo>
                <a:lnTo>
                  <a:pt x="5114557" y="0"/>
                </a:lnTo>
                <a:lnTo>
                  <a:pt x="5114557" y="2058609"/>
                </a:lnTo>
                <a:lnTo>
                  <a:pt x="0" y="20586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982897" y="2634319"/>
            <a:ext cx="6547594" cy="6437358"/>
          </a:xfrm>
          <a:custGeom>
            <a:avLst/>
            <a:gdLst/>
            <a:ahLst/>
            <a:cxnLst/>
            <a:rect r="r" b="b" t="t" l="l"/>
            <a:pathLst>
              <a:path h="6437358" w="6547594">
                <a:moveTo>
                  <a:pt x="0" y="0"/>
                </a:moveTo>
                <a:lnTo>
                  <a:pt x="6547594" y="0"/>
                </a:lnTo>
                <a:lnTo>
                  <a:pt x="6547594" y="6437358"/>
                </a:lnTo>
                <a:lnTo>
                  <a:pt x="0" y="64373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3531" t="0" r="-31603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12513" y="1987083"/>
            <a:ext cx="6756395" cy="1416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8"/>
              </a:lnSpc>
            </a:pPr>
            <a:r>
              <a:rPr lang="en-US" sz="5700" spc="-14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Our Solution: FinTera</a:t>
            </a:r>
          </a:p>
          <a:p>
            <a:pPr algn="l">
              <a:lnSpc>
                <a:spcPts val="535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724467" y="8628502"/>
            <a:ext cx="1502858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Previous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13745" y="8628502"/>
            <a:ext cx="1399255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151B1F"/>
                </a:solidFill>
                <a:latin typeface="Roboto Bold"/>
                <a:ea typeface="Roboto Bold"/>
                <a:cs typeface="Roboto Bold"/>
                <a:sym typeface="Roboto Bold"/>
              </a:rPr>
              <a:t>Next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SIH:25132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About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12513" y="2843639"/>
            <a:ext cx="9842218" cy="106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FinTera is a Generative AI-powered personal financial coach designed as an inclusive, one-stop solution to simplify financial planning for underserved communities.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512513" y="3942675"/>
            <a:ext cx="3706267" cy="365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</a:t>
            </a:r>
            <a:r>
              <a:rPr lang="en-US" b="true" sz="21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ey Features &amp; Functionalities: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12513" y="4527653"/>
            <a:ext cx="273688" cy="273688"/>
          </a:xfrm>
          <a:custGeom>
            <a:avLst/>
            <a:gdLst/>
            <a:ahLst/>
            <a:cxnLst/>
            <a:rect r="r" b="b" t="t" l="l"/>
            <a:pathLst>
              <a:path h="273688" w="273688">
                <a:moveTo>
                  <a:pt x="0" y="0"/>
                </a:moveTo>
                <a:lnTo>
                  <a:pt x="273688" y="0"/>
                </a:lnTo>
                <a:lnTo>
                  <a:pt x="273688" y="273688"/>
                </a:lnTo>
                <a:lnTo>
                  <a:pt x="0" y="2736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965590" y="4480028"/>
            <a:ext cx="9246973" cy="372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Learn Tab: Educational content, guides, and tutorials to improve financial literacy.</a:t>
            </a:r>
          </a:p>
          <a:p>
            <a:pPr algn="l">
              <a:lnSpc>
                <a:spcPts val="1482"/>
              </a:lnSpc>
            </a:pP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Services / Tools: Credit cards, loans, investments, SIPs, tax calculators — interactive, visual, and easy to compare.</a:t>
            </a:r>
          </a:p>
          <a:p>
            <a:pPr algn="l">
              <a:lnSpc>
                <a:spcPts val="1482"/>
              </a:lnSpc>
            </a:pP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Stocks Advisor: Mini dashboards, trending stocks, and portfolio insights for smarter investing.</a:t>
            </a:r>
          </a:p>
          <a:p>
            <a:pPr algn="l">
              <a:lnSpc>
                <a:spcPts val="1482"/>
              </a:lnSpc>
            </a:pP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Multi-language (10+ Indian languages) with built-in TTS for inclusive, accessible learning and mass adoption.</a:t>
            </a:r>
          </a:p>
          <a:p>
            <a:pPr algn="l">
              <a:lnSpc>
                <a:spcPts val="1482"/>
              </a:lnSpc>
            </a:pP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Assistant: Chatbot to guide users, provide personalized suggestions, and simplify decisions in multiple languages.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318756" y="1500048"/>
            <a:ext cx="1137396" cy="47625"/>
            <a:chOff x="0" y="0"/>
            <a:chExt cx="299561" cy="1254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512513" y="5069426"/>
            <a:ext cx="273688" cy="273688"/>
          </a:xfrm>
          <a:custGeom>
            <a:avLst/>
            <a:gdLst/>
            <a:ahLst/>
            <a:cxnLst/>
            <a:rect r="r" b="b" t="t" l="l"/>
            <a:pathLst>
              <a:path h="273688" w="273688">
                <a:moveTo>
                  <a:pt x="0" y="0"/>
                </a:moveTo>
                <a:lnTo>
                  <a:pt x="273688" y="0"/>
                </a:lnTo>
                <a:lnTo>
                  <a:pt x="273688" y="273688"/>
                </a:lnTo>
                <a:lnTo>
                  <a:pt x="0" y="2736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12513" y="5908537"/>
            <a:ext cx="273688" cy="273688"/>
          </a:xfrm>
          <a:custGeom>
            <a:avLst/>
            <a:gdLst/>
            <a:ahLst/>
            <a:cxnLst/>
            <a:rect r="r" b="b" t="t" l="l"/>
            <a:pathLst>
              <a:path h="273688" w="273688">
                <a:moveTo>
                  <a:pt x="0" y="0"/>
                </a:moveTo>
                <a:lnTo>
                  <a:pt x="273688" y="0"/>
                </a:lnTo>
                <a:lnTo>
                  <a:pt x="273688" y="273688"/>
                </a:lnTo>
                <a:lnTo>
                  <a:pt x="0" y="2736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12513" y="6748009"/>
            <a:ext cx="273688" cy="273688"/>
          </a:xfrm>
          <a:custGeom>
            <a:avLst/>
            <a:gdLst/>
            <a:ahLst/>
            <a:cxnLst/>
            <a:rect r="r" b="b" t="t" l="l"/>
            <a:pathLst>
              <a:path h="273688" w="273688">
                <a:moveTo>
                  <a:pt x="0" y="0"/>
                </a:moveTo>
                <a:lnTo>
                  <a:pt x="273688" y="0"/>
                </a:lnTo>
                <a:lnTo>
                  <a:pt x="273688" y="273688"/>
                </a:lnTo>
                <a:lnTo>
                  <a:pt x="0" y="2736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12513" y="7583672"/>
            <a:ext cx="273688" cy="273688"/>
          </a:xfrm>
          <a:custGeom>
            <a:avLst/>
            <a:gdLst/>
            <a:ahLst/>
            <a:cxnLst/>
            <a:rect r="r" b="b" t="t" l="l"/>
            <a:pathLst>
              <a:path h="273688" w="273688">
                <a:moveTo>
                  <a:pt x="0" y="0"/>
                </a:moveTo>
                <a:lnTo>
                  <a:pt x="273688" y="0"/>
                </a:lnTo>
                <a:lnTo>
                  <a:pt x="273688" y="273688"/>
                </a:lnTo>
                <a:lnTo>
                  <a:pt x="0" y="2736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16272" y="-568678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97147" y="2378512"/>
            <a:ext cx="6500361" cy="6500361"/>
          </a:xfrm>
          <a:custGeom>
            <a:avLst/>
            <a:gdLst/>
            <a:ahLst/>
            <a:cxnLst/>
            <a:rect r="r" b="b" t="t" l="l"/>
            <a:pathLst>
              <a:path h="6500361" w="6500361">
                <a:moveTo>
                  <a:pt x="0" y="0"/>
                </a:moveTo>
                <a:lnTo>
                  <a:pt x="6500361" y="0"/>
                </a:lnTo>
                <a:lnTo>
                  <a:pt x="6500361" y="6500360"/>
                </a:lnTo>
                <a:lnTo>
                  <a:pt x="0" y="6500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791007" y="-9421914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4" y="0"/>
                </a:lnTo>
                <a:lnTo>
                  <a:pt x="16376864" y="16376863"/>
                </a:lnTo>
                <a:lnTo>
                  <a:pt x="0" y="163768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45648" y="8422886"/>
            <a:ext cx="2265634" cy="835414"/>
            <a:chOff x="0" y="0"/>
            <a:chExt cx="596710" cy="2200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710" cy="220027"/>
            </a:xfrm>
            <a:custGeom>
              <a:avLst/>
              <a:gdLst/>
              <a:ahLst/>
              <a:cxnLst/>
              <a:rect r="r" b="b" t="t" l="l"/>
              <a:pathLst>
                <a:path h="220027" w="596710">
                  <a:moveTo>
                    <a:pt x="110013" y="0"/>
                  </a:moveTo>
                  <a:lnTo>
                    <a:pt x="486697" y="0"/>
                  </a:lnTo>
                  <a:cubicBezTo>
                    <a:pt x="547456" y="0"/>
                    <a:pt x="596710" y="49255"/>
                    <a:pt x="596710" y="110013"/>
                  </a:cubicBezTo>
                  <a:lnTo>
                    <a:pt x="596710" y="110013"/>
                  </a:lnTo>
                  <a:cubicBezTo>
                    <a:pt x="596710" y="170772"/>
                    <a:pt x="547456" y="220027"/>
                    <a:pt x="486697" y="220027"/>
                  </a:cubicBezTo>
                  <a:lnTo>
                    <a:pt x="110013" y="220027"/>
                  </a:lnTo>
                  <a:cubicBezTo>
                    <a:pt x="49255" y="220027"/>
                    <a:pt x="0" y="170772"/>
                    <a:pt x="0" y="110013"/>
                  </a:cubicBezTo>
                  <a:lnTo>
                    <a:pt x="0" y="110013"/>
                  </a:lnTo>
                  <a:cubicBezTo>
                    <a:pt x="0" y="49255"/>
                    <a:pt x="49255" y="0"/>
                    <a:pt x="110013" y="0"/>
                  </a:cubicBezTo>
                  <a:close/>
                </a:path>
              </a:pathLst>
            </a:custGeom>
            <a:solidFill>
              <a:srgbClr val="4755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6710" cy="258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3060461" y="8704702"/>
            <a:ext cx="218106" cy="271783"/>
          </a:xfrm>
          <a:custGeom>
            <a:avLst/>
            <a:gdLst/>
            <a:ahLst/>
            <a:cxnLst/>
            <a:rect r="r" b="b" t="t" l="l"/>
            <a:pathLst>
              <a:path h="271783" w="218106">
                <a:moveTo>
                  <a:pt x="218107" y="0"/>
                </a:moveTo>
                <a:lnTo>
                  <a:pt x="0" y="0"/>
                </a:lnTo>
                <a:lnTo>
                  <a:pt x="0" y="271783"/>
                </a:lnTo>
                <a:lnTo>
                  <a:pt x="218107" y="271783"/>
                </a:lnTo>
                <a:lnTo>
                  <a:pt x="21810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764343" y="8422886"/>
            <a:ext cx="2265634" cy="835414"/>
            <a:chOff x="0" y="0"/>
            <a:chExt cx="596710" cy="2200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710" cy="220027"/>
            </a:xfrm>
            <a:custGeom>
              <a:avLst/>
              <a:gdLst/>
              <a:ahLst/>
              <a:cxnLst/>
              <a:rect r="r" b="b" t="t" l="l"/>
              <a:pathLst>
                <a:path h="220027" w="596710">
                  <a:moveTo>
                    <a:pt x="110013" y="0"/>
                  </a:moveTo>
                  <a:lnTo>
                    <a:pt x="486697" y="0"/>
                  </a:lnTo>
                  <a:cubicBezTo>
                    <a:pt x="547456" y="0"/>
                    <a:pt x="596710" y="49255"/>
                    <a:pt x="596710" y="110013"/>
                  </a:cubicBezTo>
                  <a:lnTo>
                    <a:pt x="596710" y="110013"/>
                  </a:lnTo>
                  <a:cubicBezTo>
                    <a:pt x="596710" y="170772"/>
                    <a:pt x="547456" y="220027"/>
                    <a:pt x="486697" y="220027"/>
                  </a:cubicBezTo>
                  <a:lnTo>
                    <a:pt x="110013" y="220027"/>
                  </a:lnTo>
                  <a:cubicBezTo>
                    <a:pt x="49255" y="220027"/>
                    <a:pt x="0" y="170772"/>
                    <a:pt x="0" y="110013"/>
                  </a:cubicBezTo>
                  <a:lnTo>
                    <a:pt x="0" y="110013"/>
                  </a:lnTo>
                  <a:cubicBezTo>
                    <a:pt x="0" y="49255"/>
                    <a:pt x="49255" y="0"/>
                    <a:pt x="110013" y="0"/>
                  </a:cubicBezTo>
                  <a:close/>
                </a:path>
              </a:pathLst>
            </a:custGeom>
            <a:solidFill>
              <a:srgbClr val="00FF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96710" cy="258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947799" y="8714859"/>
            <a:ext cx="218106" cy="271783"/>
          </a:xfrm>
          <a:custGeom>
            <a:avLst/>
            <a:gdLst/>
            <a:ahLst/>
            <a:cxnLst/>
            <a:rect r="r" b="b" t="t" l="l"/>
            <a:pathLst>
              <a:path h="271783" w="218106">
                <a:moveTo>
                  <a:pt x="0" y="0"/>
                </a:moveTo>
                <a:lnTo>
                  <a:pt x="218106" y="0"/>
                </a:lnTo>
                <a:lnTo>
                  <a:pt x="218106" y="271784"/>
                </a:lnTo>
                <a:lnTo>
                  <a:pt x="0" y="271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29803" y="3320517"/>
            <a:ext cx="7129497" cy="4616349"/>
          </a:xfrm>
          <a:custGeom>
            <a:avLst/>
            <a:gdLst/>
            <a:ahLst/>
            <a:cxnLst/>
            <a:rect r="r" b="b" t="t" l="l"/>
            <a:pathLst>
              <a:path h="4616349" w="7129497">
                <a:moveTo>
                  <a:pt x="0" y="0"/>
                </a:moveTo>
                <a:lnTo>
                  <a:pt x="7129497" y="0"/>
                </a:lnTo>
                <a:lnTo>
                  <a:pt x="7129497" y="4616350"/>
                </a:lnTo>
                <a:lnTo>
                  <a:pt x="0" y="46163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45648" y="2125711"/>
            <a:ext cx="9470384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sz="6000" spc="-15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FEASIBILITY &amp; VIABILITY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1066" y="3059154"/>
            <a:ext cx="7330883" cy="116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Existing tools are fragmented and complex. Users juggle multiple apps for payments, investments, and analytics. Our product puts everything in one simple platform.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7603" y="8628502"/>
            <a:ext cx="1502858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Previous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46880" y="8628502"/>
            <a:ext cx="1399255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151B1F"/>
                </a:solidFill>
                <a:latin typeface="Roboto Bold"/>
                <a:ea typeface="Roboto Bold"/>
                <a:cs typeface="Roboto Bold"/>
                <a:sym typeface="Roboto Bold"/>
              </a:rPr>
              <a:t>Next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SIH:25132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About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Home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318756" y="1476235"/>
            <a:ext cx="1137396" cy="47625"/>
            <a:chOff x="0" y="0"/>
            <a:chExt cx="299561" cy="125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26404" y="4265654"/>
            <a:ext cx="7717596" cy="3750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b="true" sz="213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Advantages:</a:t>
            </a:r>
          </a:p>
          <a:p>
            <a:pPr algn="l" marL="460270" indent="-230135" lvl="1">
              <a:lnSpc>
                <a:spcPts val="2984"/>
              </a:lnSpc>
              <a:buFont typeface="Arial"/>
              <a:buChar char="•"/>
            </a:pPr>
            <a:r>
              <a:rPr lang="en-US" sz="21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All-in-one: Banking, investments, and analytics.</a:t>
            </a:r>
          </a:p>
          <a:p>
            <a:pPr algn="l" marL="460270" indent="-230135" lvl="1">
              <a:lnSpc>
                <a:spcPts val="2984"/>
              </a:lnSpc>
              <a:buFont typeface="Arial"/>
              <a:buChar char="•"/>
            </a:pPr>
            <a:r>
              <a:rPr lang="en-US" sz="21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Time-saving: No app-switching.</a:t>
            </a:r>
          </a:p>
          <a:p>
            <a:pPr algn="l" marL="460270" indent="-230135" lvl="1">
              <a:lnSpc>
                <a:spcPts val="2984"/>
              </a:lnSpc>
              <a:buFont typeface="Arial"/>
              <a:buChar char="•"/>
            </a:pPr>
            <a:r>
              <a:rPr lang="en-US" sz="21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Secure: Encrypted, reliable APIs.</a:t>
            </a:r>
          </a:p>
          <a:p>
            <a:pPr algn="l" marL="460270" indent="-230135" lvl="1">
              <a:lnSpc>
                <a:spcPts val="2984"/>
              </a:lnSpc>
              <a:buFont typeface="Arial"/>
              <a:buChar char="•"/>
            </a:pPr>
            <a:r>
              <a:rPr lang="en-US" sz="21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Scalable: Easy to add new tools.</a:t>
            </a:r>
          </a:p>
          <a:p>
            <a:pPr algn="ctr">
              <a:lnSpc>
                <a:spcPts val="2984"/>
              </a:lnSpc>
              <a:spcBef>
                <a:spcPct val="0"/>
              </a:spcBef>
            </a:pPr>
          </a:p>
          <a:p>
            <a:pPr algn="just">
              <a:lnSpc>
                <a:spcPts val="2984"/>
              </a:lnSpc>
              <a:spcBef>
                <a:spcPct val="0"/>
              </a:spcBef>
            </a:pPr>
            <a:r>
              <a:rPr lang="en-US" b="true" sz="213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Risks &amp; Mitigation:</a:t>
            </a:r>
          </a:p>
          <a:p>
            <a:pPr algn="l" marL="460270" indent="-230135" lvl="1">
              <a:lnSpc>
                <a:spcPts val="2984"/>
              </a:lnSpc>
              <a:buFont typeface="Arial"/>
              <a:buChar char="•"/>
            </a:pPr>
            <a:r>
              <a:rPr lang="en-US" sz="21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API downtime → use backups &amp; caching.</a:t>
            </a:r>
          </a:p>
          <a:p>
            <a:pPr algn="l" marL="460270" indent="-230135" lvl="1">
              <a:lnSpc>
                <a:spcPts val="2984"/>
              </a:lnSpc>
              <a:buFont typeface="Arial"/>
              <a:buChar char="•"/>
            </a:pPr>
            <a:r>
              <a:rPr lang="en-US" sz="21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security → encryption &amp; secure backend.</a:t>
            </a:r>
          </a:p>
          <a:p>
            <a:pPr algn="l" marL="460270" indent="-230135" lvl="1">
              <a:lnSpc>
                <a:spcPts val="2984"/>
              </a:lnSpc>
              <a:buFont typeface="Arial"/>
              <a:buChar char="•"/>
            </a:pPr>
            <a:r>
              <a:rPr lang="en-US" sz="21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Adoption → intuitive UX, clear value.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28158" y="8429500"/>
            <a:ext cx="7353580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By simplifying finance in one platform, we turn complexity into clarity and convenience, making the product feasible and highly viable.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61702" y="-1558386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26414" y="2519603"/>
            <a:ext cx="5649203" cy="5649203"/>
          </a:xfrm>
          <a:custGeom>
            <a:avLst/>
            <a:gdLst/>
            <a:ahLst/>
            <a:cxnLst/>
            <a:rect r="r" b="b" t="t" l="l"/>
            <a:pathLst>
              <a:path h="5649203" w="5649203">
                <a:moveTo>
                  <a:pt x="0" y="0"/>
                </a:moveTo>
                <a:lnTo>
                  <a:pt x="5649203" y="0"/>
                </a:lnTo>
                <a:lnTo>
                  <a:pt x="5649203" y="5649203"/>
                </a:lnTo>
                <a:lnTo>
                  <a:pt x="0" y="5649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049150" y="-6875824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459272" y="8285182"/>
            <a:ext cx="2265634" cy="835414"/>
            <a:chOff x="0" y="0"/>
            <a:chExt cx="596710" cy="2200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710" cy="220027"/>
            </a:xfrm>
            <a:custGeom>
              <a:avLst/>
              <a:gdLst/>
              <a:ahLst/>
              <a:cxnLst/>
              <a:rect r="r" b="b" t="t" l="l"/>
              <a:pathLst>
                <a:path h="220027" w="596710">
                  <a:moveTo>
                    <a:pt x="110013" y="0"/>
                  </a:moveTo>
                  <a:lnTo>
                    <a:pt x="486697" y="0"/>
                  </a:lnTo>
                  <a:cubicBezTo>
                    <a:pt x="547456" y="0"/>
                    <a:pt x="596710" y="49255"/>
                    <a:pt x="596710" y="110013"/>
                  </a:cubicBezTo>
                  <a:lnTo>
                    <a:pt x="596710" y="110013"/>
                  </a:lnTo>
                  <a:cubicBezTo>
                    <a:pt x="596710" y="170772"/>
                    <a:pt x="547456" y="220027"/>
                    <a:pt x="486697" y="220027"/>
                  </a:cubicBezTo>
                  <a:lnTo>
                    <a:pt x="110013" y="220027"/>
                  </a:lnTo>
                  <a:cubicBezTo>
                    <a:pt x="49255" y="220027"/>
                    <a:pt x="0" y="170772"/>
                    <a:pt x="0" y="110013"/>
                  </a:cubicBezTo>
                  <a:lnTo>
                    <a:pt x="0" y="110013"/>
                  </a:lnTo>
                  <a:cubicBezTo>
                    <a:pt x="0" y="49255"/>
                    <a:pt x="49255" y="0"/>
                    <a:pt x="110013" y="0"/>
                  </a:cubicBezTo>
                  <a:close/>
                </a:path>
              </a:pathLst>
            </a:custGeom>
            <a:solidFill>
              <a:srgbClr val="4755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6710" cy="258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4174085" y="8566997"/>
            <a:ext cx="218106" cy="271783"/>
          </a:xfrm>
          <a:custGeom>
            <a:avLst/>
            <a:gdLst/>
            <a:ahLst/>
            <a:cxnLst/>
            <a:rect r="r" b="b" t="t" l="l"/>
            <a:pathLst>
              <a:path h="271783" w="218106">
                <a:moveTo>
                  <a:pt x="218106" y="0"/>
                </a:moveTo>
                <a:lnTo>
                  <a:pt x="0" y="0"/>
                </a:lnTo>
                <a:lnTo>
                  <a:pt x="0" y="271784"/>
                </a:lnTo>
                <a:lnTo>
                  <a:pt x="218106" y="271784"/>
                </a:lnTo>
                <a:lnTo>
                  <a:pt x="21810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877966" y="8285182"/>
            <a:ext cx="2265634" cy="835414"/>
            <a:chOff x="0" y="0"/>
            <a:chExt cx="596710" cy="2200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710" cy="220027"/>
            </a:xfrm>
            <a:custGeom>
              <a:avLst/>
              <a:gdLst/>
              <a:ahLst/>
              <a:cxnLst/>
              <a:rect r="r" b="b" t="t" l="l"/>
              <a:pathLst>
                <a:path h="220027" w="596710">
                  <a:moveTo>
                    <a:pt x="110013" y="0"/>
                  </a:moveTo>
                  <a:lnTo>
                    <a:pt x="486697" y="0"/>
                  </a:lnTo>
                  <a:cubicBezTo>
                    <a:pt x="547456" y="0"/>
                    <a:pt x="596710" y="49255"/>
                    <a:pt x="596710" y="110013"/>
                  </a:cubicBezTo>
                  <a:lnTo>
                    <a:pt x="596710" y="110013"/>
                  </a:lnTo>
                  <a:cubicBezTo>
                    <a:pt x="596710" y="170772"/>
                    <a:pt x="547456" y="220027"/>
                    <a:pt x="486697" y="220027"/>
                  </a:cubicBezTo>
                  <a:lnTo>
                    <a:pt x="110013" y="220027"/>
                  </a:lnTo>
                  <a:cubicBezTo>
                    <a:pt x="49255" y="220027"/>
                    <a:pt x="0" y="170772"/>
                    <a:pt x="0" y="110013"/>
                  </a:cubicBezTo>
                  <a:lnTo>
                    <a:pt x="0" y="110013"/>
                  </a:lnTo>
                  <a:cubicBezTo>
                    <a:pt x="0" y="49255"/>
                    <a:pt x="49255" y="0"/>
                    <a:pt x="110013" y="0"/>
                  </a:cubicBezTo>
                  <a:close/>
                </a:path>
              </a:pathLst>
            </a:custGeom>
            <a:solidFill>
              <a:srgbClr val="00FF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96710" cy="258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061423" y="8577155"/>
            <a:ext cx="218106" cy="271783"/>
          </a:xfrm>
          <a:custGeom>
            <a:avLst/>
            <a:gdLst/>
            <a:ahLst/>
            <a:cxnLst/>
            <a:rect r="r" b="b" t="t" l="l"/>
            <a:pathLst>
              <a:path h="271783" w="218106">
                <a:moveTo>
                  <a:pt x="0" y="0"/>
                </a:moveTo>
                <a:lnTo>
                  <a:pt x="218106" y="0"/>
                </a:lnTo>
                <a:lnTo>
                  <a:pt x="218106" y="271784"/>
                </a:lnTo>
                <a:lnTo>
                  <a:pt x="0" y="271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4682" y="2384128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4682" y="3726313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0"/>
                </a:lnTo>
                <a:lnTo>
                  <a:pt x="0" y="3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45744" y="6547344"/>
            <a:ext cx="333537" cy="339910"/>
          </a:xfrm>
          <a:custGeom>
            <a:avLst/>
            <a:gdLst/>
            <a:ahLst/>
            <a:cxnLst/>
            <a:rect r="r" b="b" t="t" l="l"/>
            <a:pathLst>
              <a:path h="339910" w="333537">
                <a:moveTo>
                  <a:pt x="0" y="0"/>
                </a:moveTo>
                <a:lnTo>
                  <a:pt x="333537" y="0"/>
                </a:lnTo>
                <a:lnTo>
                  <a:pt x="333537" y="339911"/>
                </a:lnTo>
                <a:lnTo>
                  <a:pt x="0" y="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413620" y="1476235"/>
            <a:ext cx="1137396" cy="47625"/>
            <a:chOff x="0" y="0"/>
            <a:chExt cx="299561" cy="12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9" id="19">
            <a:hlinkClick action="ppaction://media"/>
          </p:cNvPr>
          <p:cNvPicPr>
            <a:picLocks noChangeAspect="true"/>
          </p:cNvPicPr>
          <p:nvPr>
            <a:videoFile r:link="rId15"/>
            <p:extLst>
              <p:ext uri="{DAA4B4D4-6D71-4841-9C94-3DE7FCFB9230}">
                <p14:media xmlns:p14="http://schemas.microsoft.com/office/powerpoint/2010/main" r:embed="rId16"/>
              </p:ext>
            </p:extLst>
          </p:nvPr>
        </p:nvPicPr>
        <p:blipFill>
          <a:blip r:embed="rId14"/>
          <a:srcRect l="0" t="0" r="0" b="0"/>
          <a:stretch>
            <a:fillRect/>
          </a:stretch>
        </p:blipFill>
        <p:spPr>
          <a:xfrm flipH="false" flipV="false" rot="0">
            <a:off x="10808548" y="3885166"/>
            <a:ext cx="7167286" cy="3317462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481450" y="1436433"/>
            <a:ext cx="7631487" cy="74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7"/>
              </a:lnSpc>
            </a:pPr>
            <a:r>
              <a:rPr lang="en-US" sz="5699" spc="-14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Technical Approach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71227" y="8490797"/>
            <a:ext cx="1502858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Previous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460504" y="8490797"/>
            <a:ext cx="1399255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151B1F"/>
                </a:solidFill>
                <a:latin typeface="Roboto Bold"/>
                <a:ea typeface="Roboto Bold"/>
                <a:cs typeface="Roboto Bold"/>
                <a:sym typeface="Roboto Bold"/>
              </a:rPr>
              <a:t>Next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SIH:25132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About 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01983" y="2269828"/>
            <a:ext cx="444187" cy="91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52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66675" y="2346028"/>
            <a:ext cx="6181543" cy="127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3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Programming Languages:</a:t>
            </a:r>
          </a:p>
          <a:p>
            <a:pPr algn="l">
              <a:lnSpc>
                <a:spcPts val="2570"/>
              </a:lnSpc>
            </a:pPr>
            <a:r>
              <a:rPr lang="en-US" sz="18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Python – Backend logic, API integration, data processing</a:t>
            </a:r>
          </a:p>
          <a:p>
            <a:pPr algn="l">
              <a:lnSpc>
                <a:spcPts val="2570"/>
              </a:lnSpc>
            </a:pPr>
            <a:r>
              <a:rPr lang="en-US" sz="18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JavaScript – Frontend interactivity, dynamic UI updates</a:t>
            </a:r>
          </a:p>
          <a:p>
            <a:pPr algn="l">
              <a:lnSpc>
                <a:spcPts val="257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648219" y="3505495"/>
            <a:ext cx="444187" cy="91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52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66675" y="6499719"/>
            <a:ext cx="7732228" cy="5031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APIs (Fintech Integration):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Setu API – Open banking, UPI payments, account aggregation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Razorpay API – Payment gateway, subscription billing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Zerodha Kite Connect API – Stock market data and trading functionalities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Plaid API – Secure bank account linking and data aggregation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i18n API: Breaks language barriers with 10+ Indian languages, making finance truly for everyone.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Google Translate API: Instantly enables multi-language support with accurate, scalable translations for diverse Indian users.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Yahoo Finance API / Google Finance API :Provide real-time and historical stock market data, financial news, and analytics for informed decision-making.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648219" y="6288699"/>
            <a:ext cx="444187" cy="91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52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66675" y="3572170"/>
            <a:ext cx="7339012" cy="283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Frameworks and Libraries: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PostgreSQL: A powerful, reliable database for handling financial data with speed, security, and scalability.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React.js – For a more dynamic, interactive frontend experience.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Tailwind CSS – Sleek, responsive, and minimal UI components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Django: A secure, scalable backend framework to handle user flows, APIs, and data management with speed and reliability.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FastAPI:In our website, FastAPI will serve as the backend to handle user requests, integrate external APIs, and deliver real-time data efficiently.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61288" y="2372581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6821" y="2372581"/>
            <a:ext cx="6500361" cy="6500361"/>
          </a:xfrm>
          <a:custGeom>
            <a:avLst/>
            <a:gdLst/>
            <a:ahLst/>
            <a:cxnLst/>
            <a:rect r="r" b="b" t="t" l="l"/>
            <a:pathLst>
              <a:path h="6500361" w="6500361">
                <a:moveTo>
                  <a:pt x="0" y="0"/>
                </a:moveTo>
                <a:lnTo>
                  <a:pt x="6500361" y="0"/>
                </a:lnTo>
                <a:lnTo>
                  <a:pt x="6500361" y="6500361"/>
                </a:lnTo>
                <a:lnTo>
                  <a:pt x="0" y="65003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107955" y="-9496045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3" y="0"/>
                </a:lnTo>
                <a:lnTo>
                  <a:pt x="16376863" y="16376863"/>
                </a:lnTo>
                <a:lnTo>
                  <a:pt x="0" y="163768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12513" y="8422886"/>
            <a:ext cx="2265634" cy="835414"/>
            <a:chOff x="0" y="0"/>
            <a:chExt cx="596710" cy="2200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710" cy="220027"/>
            </a:xfrm>
            <a:custGeom>
              <a:avLst/>
              <a:gdLst/>
              <a:ahLst/>
              <a:cxnLst/>
              <a:rect r="r" b="b" t="t" l="l"/>
              <a:pathLst>
                <a:path h="220027" w="596710">
                  <a:moveTo>
                    <a:pt x="110013" y="0"/>
                  </a:moveTo>
                  <a:lnTo>
                    <a:pt x="486697" y="0"/>
                  </a:lnTo>
                  <a:cubicBezTo>
                    <a:pt x="547456" y="0"/>
                    <a:pt x="596710" y="49255"/>
                    <a:pt x="596710" y="110013"/>
                  </a:cubicBezTo>
                  <a:lnTo>
                    <a:pt x="596710" y="110013"/>
                  </a:lnTo>
                  <a:cubicBezTo>
                    <a:pt x="596710" y="170772"/>
                    <a:pt x="547456" y="220027"/>
                    <a:pt x="486697" y="220027"/>
                  </a:cubicBezTo>
                  <a:lnTo>
                    <a:pt x="110013" y="220027"/>
                  </a:lnTo>
                  <a:cubicBezTo>
                    <a:pt x="49255" y="220027"/>
                    <a:pt x="0" y="170772"/>
                    <a:pt x="0" y="110013"/>
                  </a:cubicBezTo>
                  <a:lnTo>
                    <a:pt x="0" y="110013"/>
                  </a:lnTo>
                  <a:cubicBezTo>
                    <a:pt x="0" y="49255"/>
                    <a:pt x="49255" y="0"/>
                    <a:pt x="110013" y="0"/>
                  </a:cubicBezTo>
                  <a:close/>
                </a:path>
              </a:pathLst>
            </a:custGeom>
            <a:solidFill>
              <a:srgbClr val="4755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6710" cy="258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3227326" y="8704702"/>
            <a:ext cx="218106" cy="271783"/>
          </a:xfrm>
          <a:custGeom>
            <a:avLst/>
            <a:gdLst/>
            <a:ahLst/>
            <a:cxnLst/>
            <a:rect r="r" b="b" t="t" l="l"/>
            <a:pathLst>
              <a:path h="271783" w="218106">
                <a:moveTo>
                  <a:pt x="218106" y="0"/>
                </a:moveTo>
                <a:lnTo>
                  <a:pt x="0" y="0"/>
                </a:lnTo>
                <a:lnTo>
                  <a:pt x="0" y="271783"/>
                </a:lnTo>
                <a:lnTo>
                  <a:pt x="218106" y="271783"/>
                </a:lnTo>
                <a:lnTo>
                  <a:pt x="21810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931207" y="8422886"/>
            <a:ext cx="2265634" cy="835414"/>
            <a:chOff x="0" y="0"/>
            <a:chExt cx="596710" cy="2200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710" cy="220027"/>
            </a:xfrm>
            <a:custGeom>
              <a:avLst/>
              <a:gdLst/>
              <a:ahLst/>
              <a:cxnLst/>
              <a:rect r="r" b="b" t="t" l="l"/>
              <a:pathLst>
                <a:path h="220027" w="596710">
                  <a:moveTo>
                    <a:pt x="110013" y="0"/>
                  </a:moveTo>
                  <a:lnTo>
                    <a:pt x="486697" y="0"/>
                  </a:lnTo>
                  <a:cubicBezTo>
                    <a:pt x="547456" y="0"/>
                    <a:pt x="596710" y="49255"/>
                    <a:pt x="596710" y="110013"/>
                  </a:cubicBezTo>
                  <a:lnTo>
                    <a:pt x="596710" y="110013"/>
                  </a:lnTo>
                  <a:cubicBezTo>
                    <a:pt x="596710" y="170772"/>
                    <a:pt x="547456" y="220027"/>
                    <a:pt x="486697" y="220027"/>
                  </a:cubicBezTo>
                  <a:lnTo>
                    <a:pt x="110013" y="220027"/>
                  </a:lnTo>
                  <a:cubicBezTo>
                    <a:pt x="49255" y="220027"/>
                    <a:pt x="0" y="170772"/>
                    <a:pt x="0" y="110013"/>
                  </a:cubicBezTo>
                  <a:lnTo>
                    <a:pt x="0" y="110013"/>
                  </a:lnTo>
                  <a:cubicBezTo>
                    <a:pt x="0" y="49255"/>
                    <a:pt x="49255" y="0"/>
                    <a:pt x="110013" y="0"/>
                  </a:cubicBezTo>
                  <a:close/>
                </a:path>
              </a:pathLst>
            </a:custGeom>
            <a:solidFill>
              <a:srgbClr val="00FF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96710" cy="258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114663" y="8714859"/>
            <a:ext cx="218106" cy="271783"/>
          </a:xfrm>
          <a:custGeom>
            <a:avLst/>
            <a:gdLst/>
            <a:ahLst/>
            <a:cxnLst/>
            <a:rect r="r" b="b" t="t" l="l"/>
            <a:pathLst>
              <a:path h="271783" w="218106">
                <a:moveTo>
                  <a:pt x="0" y="0"/>
                </a:moveTo>
                <a:lnTo>
                  <a:pt x="218107" y="0"/>
                </a:lnTo>
                <a:lnTo>
                  <a:pt x="218107" y="271784"/>
                </a:lnTo>
                <a:lnTo>
                  <a:pt x="0" y="271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791257" y="2238378"/>
            <a:ext cx="4000754" cy="7019922"/>
            <a:chOff x="0" y="0"/>
            <a:chExt cx="1053697" cy="18488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3697" cy="1848868"/>
            </a:xfrm>
            <a:custGeom>
              <a:avLst/>
              <a:gdLst/>
              <a:ahLst/>
              <a:cxnLst/>
              <a:rect r="r" b="b" t="t" l="l"/>
              <a:pathLst>
                <a:path h="1848868" w="1053697">
                  <a:moveTo>
                    <a:pt x="98691" y="0"/>
                  </a:moveTo>
                  <a:lnTo>
                    <a:pt x="955006" y="0"/>
                  </a:lnTo>
                  <a:cubicBezTo>
                    <a:pt x="1009511" y="0"/>
                    <a:pt x="1053697" y="44185"/>
                    <a:pt x="1053697" y="98691"/>
                  </a:cubicBezTo>
                  <a:lnTo>
                    <a:pt x="1053697" y="1750177"/>
                  </a:lnTo>
                  <a:cubicBezTo>
                    <a:pt x="1053697" y="1776352"/>
                    <a:pt x="1043299" y="1801454"/>
                    <a:pt x="1024791" y="1819963"/>
                  </a:cubicBezTo>
                  <a:cubicBezTo>
                    <a:pt x="1006282" y="1838471"/>
                    <a:pt x="981180" y="1848868"/>
                    <a:pt x="955006" y="1848868"/>
                  </a:cubicBezTo>
                  <a:lnTo>
                    <a:pt x="98691" y="1848868"/>
                  </a:lnTo>
                  <a:cubicBezTo>
                    <a:pt x="44185" y="1848868"/>
                    <a:pt x="0" y="1804683"/>
                    <a:pt x="0" y="1750177"/>
                  </a:cubicBezTo>
                  <a:lnTo>
                    <a:pt x="0" y="98691"/>
                  </a:lnTo>
                  <a:cubicBezTo>
                    <a:pt x="0" y="44185"/>
                    <a:pt x="44185" y="0"/>
                    <a:pt x="98691" y="0"/>
                  </a:cubicBezTo>
                  <a:close/>
                </a:path>
              </a:pathLst>
            </a:custGeom>
            <a:solidFill>
              <a:srgbClr val="42525B">
                <a:alpha val="60000"/>
              </a:srgbClr>
            </a:solidFill>
            <a:ln cap="rnd">
              <a:noFill/>
              <a:prstDash val="lg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53697" cy="1906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25386" y="2206920"/>
            <a:ext cx="4000754" cy="7051380"/>
            <a:chOff x="0" y="0"/>
            <a:chExt cx="1053697" cy="18571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3697" cy="1857154"/>
            </a:xfrm>
            <a:custGeom>
              <a:avLst/>
              <a:gdLst/>
              <a:ahLst/>
              <a:cxnLst/>
              <a:rect r="r" b="b" t="t" l="l"/>
              <a:pathLst>
                <a:path h="1857154" w="1053697">
                  <a:moveTo>
                    <a:pt x="98691" y="0"/>
                  </a:moveTo>
                  <a:lnTo>
                    <a:pt x="955006" y="0"/>
                  </a:lnTo>
                  <a:cubicBezTo>
                    <a:pt x="1009511" y="0"/>
                    <a:pt x="1053697" y="44185"/>
                    <a:pt x="1053697" y="98691"/>
                  </a:cubicBezTo>
                  <a:lnTo>
                    <a:pt x="1053697" y="1758463"/>
                  </a:lnTo>
                  <a:cubicBezTo>
                    <a:pt x="1053697" y="1812968"/>
                    <a:pt x="1009511" y="1857154"/>
                    <a:pt x="955006" y="1857154"/>
                  </a:cubicBezTo>
                  <a:lnTo>
                    <a:pt x="98691" y="1857154"/>
                  </a:lnTo>
                  <a:cubicBezTo>
                    <a:pt x="44185" y="1857154"/>
                    <a:pt x="0" y="1812968"/>
                    <a:pt x="0" y="1758463"/>
                  </a:cubicBezTo>
                  <a:lnTo>
                    <a:pt x="0" y="98691"/>
                  </a:lnTo>
                  <a:cubicBezTo>
                    <a:pt x="0" y="44185"/>
                    <a:pt x="44185" y="0"/>
                    <a:pt x="98691" y="0"/>
                  </a:cubicBezTo>
                  <a:close/>
                </a:path>
              </a:pathLst>
            </a:custGeom>
            <a:solidFill>
              <a:srgbClr val="00FFFC">
                <a:alpha val="6000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53697" cy="1914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61020" y="1796500"/>
            <a:ext cx="3179054" cy="1812061"/>
          </a:xfrm>
          <a:custGeom>
            <a:avLst/>
            <a:gdLst/>
            <a:ahLst/>
            <a:cxnLst/>
            <a:rect r="r" b="b" t="t" l="l"/>
            <a:pathLst>
              <a:path h="1812061" w="3179054">
                <a:moveTo>
                  <a:pt x="0" y="0"/>
                </a:moveTo>
                <a:lnTo>
                  <a:pt x="3179055" y="0"/>
                </a:lnTo>
                <a:lnTo>
                  <a:pt x="3179055" y="1812061"/>
                </a:lnTo>
                <a:lnTo>
                  <a:pt x="0" y="18120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12513" y="4130843"/>
            <a:ext cx="6455124" cy="1540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1"/>
              </a:lnSpc>
            </a:pPr>
            <a:r>
              <a:rPr lang="en-US" sz="6257" spc="-16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IMPACT AND BENEFITS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2513" y="5791316"/>
            <a:ext cx="6756395" cy="233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Future Scope:</a:t>
            </a:r>
          </a:p>
          <a:p>
            <a:pPr algn="l" marL="406765" indent="-203383" lvl="1">
              <a:lnSpc>
                <a:spcPts val="2637"/>
              </a:lnSpc>
              <a:buFont typeface="Arial"/>
              <a:buChar char="•"/>
            </a:pPr>
            <a:r>
              <a:rPr lang="en-US" sz="18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Investment Nudges: Offering micro-investment suggestions based on user behavior.</a:t>
            </a:r>
          </a:p>
          <a:p>
            <a:pPr algn="l" marL="406765" indent="-203383" lvl="1">
              <a:lnSpc>
                <a:spcPts val="2637"/>
              </a:lnSpc>
              <a:buFont typeface="Arial"/>
              <a:buChar char="•"/>
            </a:pPr>
            <a:r>
              <a:rPr lang="en-US" sz="18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Credit Score Guidance: Providing personalized advice to improve credit health.</a:t>
            </a:r>
          </a:p>
          <a:p>
            <a:pPr algn="l" marL="406765" indent="-203383" lvl="1">
              <a:lnSpc>
                <a:spcPts val="2637"/>
              </a:lnSpc>
              <a:buFont typeface="Arial"/>
              <a:buChar char="•"/>
            </a:pPr>
            <a:r>
              <a:rPr lang="en-US" sz="18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Regional Language Expansion: Adding more Indian languages for wider reach.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4467" y="8628502"/>
            <a:ext cx="1502858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Previous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13745" y="8628502"/>
            <a:ext cx="1399255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151B1F"/>
                </a:solidFill>
                <a:latin typeface="Roboto Bold"/>
                <a:ea typeface="Roboto Bold"/>
                <a:cs typeface="Roboto Bold"/>
                <a:sym typeface="Roboto Bold"/>
              </a:rPr>
              <a:t>Next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2513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SIH:25132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About 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23615" y="2969590"/>
            <a:ext cx="2936038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b="true" sz="3100">
                <a:solidFill>
                  <a:srgbClr val="00FFFC"/>
                </a:solidFill>
                <a:latin typeface="Roboto Bold"/>
                <a:ea typeface="Roboto Bold"/>
                <a:cs typeface="Roboto Bold"/>
                <a:sym typeface="Roboto Bold"/>
              </a:rPr>
              <a:t>QUANTITATIVE BE</a:t>
            </a:r>
            <a:r>
              <a:rPr lang="en-US" sz="3100" b="true">
                <a:solidFill>
                  <a:srgbClr val="00FFFC"/>
                </a:solidFill>
                <a:latin typeface="Roboto Bold"/>
                <a:ea typeface="Roboto Bold"/>
                <a:cs typeface="Roboto Bold"/>
                <a:sym typeface="Roboto Bold"/>
              </a:rPr>
              <a:t>nefits</a:t>
            </a:r>
          </a:p>
          <a:p>
            <a:pPr algn="ctr">
              <a:lnSpc>
                <a:spcPts val="372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3704605" y="2969590"/>
            <a:ext cx="293603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b="true" sz="3100">
                <a:solidFill>
                  <a:srgbClr val="151B1F"/>
                </a:solidFill>
                <a:latin typeface="Roboto Bold"/>
                <a:ea typeface="Roboto Bold"/>
                <a:cs typeface="Roboto Bold"/>
                <a:sym typeface="Roboto Bold"/>
              </a:rPr>
              <a:t>QUALIT</a:t>
            </a:r>
            <a:r>
              <a:rPr lang="en-US" sz="3100" b="true">
                <a:solidFill>
                  <a:srgbClr val="151B1F"/>
                </a:solidFill>
                <a:latin typeface="Roboto Bold"/>
                <a:ea typeface="Roboto Bold"/>
                <a:cs typeface="Roboto Bold"/>
                <a:sym typeface="Roboto Bold"/>
              </a:rPr>
              <a:t>ative Benefits: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413620" y="1476235"/>
            <a:ext cx="1137396" cy="47625"/>
            <a:chOff x="0" y="0"/>
            <a:chExt cx="299561" cy="1254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34863" y="4172296"/>
            <a:ext cx="3313541" cy="166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7"/>
              </a:lnSpc>
            </a:pPr>
            <a:r>
              <a:rPr lang="en-US" sz="18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Financial Inclusion: Reaching underserved communities often ignored by tradit</a:t>
            </a:r>
            <a:r>
              <a:rPr lang="en-US" sz="18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ional fintech.</a:t>
            </a:r>
          </a:p>
          <a:p>
            <a:pPr algn="l">
              <a:lnSpc>
                <a:spcPts val="2637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9134863" y="5794787"/>
            <a:ext cx="3313541" cy="166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7"/>
              </a:lnSpc>
            </a:pPr>
            <a:r>
              <a:rPr lang="en-US" sz="18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Behavioral Change: Encouraging consistent savings and positive financial habits through gamificat</a:t>
            </a:r>
            <a:r>
              <a:rPr lang="en-US" sz="18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ion.</a:t>
            </a:r>
          </a:p>
          <a:p>
            <a:pPr algn="l">
              <a:lnSpc>
                <a:spcPts val="2637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9134863" y="7591655"/>
            <a:ext cx="3313541" cy="166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7"/>
              </a:lnSpc>
            </a:pPr>
            <a:r>
              <a:rPr lang="en-US" sz="18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Increased Literacy: Simplifying complex topics to make financial educat</a:t>
            </a:r>
            <a:r>
              <a:rPr lang="en-US" sz="18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ion truly accessible.</a:t>
            </a:r>
          </a:p>
          <a:p>
            <a:pPr algn="l">
              <a:lnSpc>
                <a:spcPts val="263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3658786" y="4172296"/>
            <a:ext cx="2981858" cy="166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7"/>
              </a:lnSpc>
            </a:pPr>
            <a:r>
              <a:rPr lang="en-US" sz="188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Social Impact: Contributing to national goals of Digital India and financ</a:t>
            </a:r>
            <a:r>
              <a:rPr lang="en-US" sz="188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ial inclusion.</a:t>
            </a:r>
          </a:p>
          <a:p>
            <a:pPr algn="ctr">
              <a:lnSpc>
                <a:spcPts val="263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3658786" y="5794787"/>
            <a:ext cx="2981858" cy="166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7"/>
              </a:lnSpc>
            </a:pPr>
            <a:r>
              <a:rPr lang="en-US" sz="188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88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mpowerment: Giving individuals the tools to manage their finances w</a:t>
            </a:r>
            <a:r>
              <a:rPr lang="en-US" sz="188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ith confidence.</a:t>
            </a:r>
          </a:p>
          <a:p>
            <a:pPr algn="l">
              <a:lnSpc>
                <a:spcPts val="263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3634834" y="7591655"/>
            <a:ext cx="2981858" cy="133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7"/>
              </a:lnSpc>
            </a:pPr>
            <a:r>
              <a:rPr lang="en-US" sz="188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Innovation: Creating a unique, voice-first solution that stands out in</a:t>
            </a:r>
            <a:r>
              <a:rPr lang="en-US" sz="188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the market.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46054" y="-9492248"/>
            <a:ext cx="16376864" cy="16376864"/>
          </a:xfrm>
          <a:custGeom>
            <a:avLst/>
            <a:gdLst/>
            <a:ahLst/>
            <a:cxnLst/>
            <a:rect r="r" b="b" t="t" l="l"/>
            <a:pathLst>
              <a:path h="16376864" w="16376864">
                <a:moveTo>
                  <a:pt x="0" y="0"/>
                </a:moveTo>
                <a:lnTo>
                  <a:pt x="16376864" y="0"/>
                </a:lnTo>
                <a:lnTo>
                  <a:pt x="16376864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4384" y="8840593"/>
            <a:ext cx="2265634" cy="835414"/>
            <a:chOff x="0" y="0"/>
            <a:chExt cx="596710" cy="2200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6710" cy="220027"/>
            </a:xfrm>
            <a:custGeom>
              <a:avLst/>
              <a:gdLst/>
              <a:ahLst/>
              <a:cxnLst/>
              <a:rect r="r" b="b" t="t" l="l"/>
              <a:pathLst>
                <a:path h="220027" w="596710">
                  <a:moveTo>
                    <a:pt x="110013" y="0"/>
                  </a:moveTo>
                  <a:lnTo>
                    <a:pt x="486697" y="0"/>
                  </a:lnTo>
                  <a:cubicBezTo>
                    <a:pt x="547456" y="0"/>
                    <a:pt x="596710" y="49255"/>
                    <a:pt x="596710" y="110013"/>
                  </a:cubicBezTo>
                  <a:lnTo>
                    <a:pt x="596710" y="110013"/>
                  </a:lnTo>
                  <a:cubicBezTo>
                    <a:pt x="596710" y="170772"/>
                    <a:pt x="547456" y="220027"/>
                    <a:pt x="486697" y="220027"/>
                  </a:cubicBezTo>
                  <a:lnTo>
                    <a:pt x="110013" y="220027"/>
                  </a:lnTo>
                  <a:cubicBezTo>
                    <a:pt x="49255" y="220027"/>
                    <a:pt x="0" y="170772"/>
                    <a:pt x="0" y="110013"/>
                  </a:cubicBezTo>
                  <a:lnTo>
                    <a:pt x="0" y="110013"/>
                  </a:lnTo>
                  <a:cubicBezTo>
                    <a:pt x="0" y="49255"/>
                    <a:pt x="49255" y="0"/>
                    <a:pt x="110013" y="0"/>
                  </a:cubicBezTo>
                  <a:close/>
                </a:path>
              </a:pathLst>
            </a:custGeom>
            <a:solidFill>
              <a:srgbClr val="47555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6710" cy="258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2649197" y="9122408"/>
            <a:ext cx="218106" cy="271783"/>
          </a:xfrm>
          <a:custGeom>
            <a:avLst/>
            <a:gdLst/>
            <a:ahLst/>
            <a:cxnLst/>
            <a:rect r="r" b="b" t="t" l="l"/>
            <a:pathLst>
              <a:path h="271783" w="218106">
                <a:moveTo>
                  <a:pt x="218107" y="0"/>
                </a:moveTo>
                <a:lnTo>
                  <a:pt x="0" y="0"/>
                </a:lnTo>
                <a:lnTo>
                  <a:pt x="0" y="271784"/>
                </a:lnTo>
                <a:lnTo>
                  <a:pt x="218107" y="271784"/>
                </a:lnTo>
                <a:lnTo>
                  <a:pt x="21810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353079" y="8840593"/>
            <a:ext cx="2265634" cy="835414"/>
            <a:chOff x="0" y="0"/>
            <a:chExt cx="596710" cy="2200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6710" cy="220027"/>
            </a:xfrm>
            <a:custGeom>
              <a:avLst/>
              <a:gdLst/>
              <a:ahLst/>
              <a:cxnLst/>
              <a:rect r="r" b="b" t="t" l="l"/>
              <a:pathLst>
                <a:path h="220027" w="596710">
                  <a:moveTo>
                    <a:pt x="110013" y="0"/>
                  </a:moveTo>
                  <a:lnTo>
                    <a:pt x="486697" y="0"/>
                  </a:lnTo>
                  <a:cubicBezTo>
                    <a:pt x="547456" y="0"/>
                    <a:pt x="596710" y="49255"/>
                    <a:pt x="596710" y="110013"/>
                  </a:cubicBezTo>
                  <a:lnTo>
                    <a:pt x="596710" y="110013"/>
                  </a:lnTo>
                  <a:cubicBezTo>
                    <a:pt x="596710" y="170772"/>
                    <a:pt x="547456" y="220027"/>
                    <a:pt x="486697" y="220027"/>
                  </a:cubicBezTo>
                  <a:lnTo>
                    <a:pt x="110013" y="220027"/>
                  </a:lnTo>
                  <a:cubicBezTo>
                    <a:pt x="49255" y="220027"/>
                    <a:pt x="0" y="170772"/>
                    <a:pt x="0" y="110013"/>
                  </a:cubicBezTo>
                  <a:lnTo>
                    <a:pt x="0" y="110013"/>
                  </a:lnTo>
                  <a:cubicBezTo>
                    <a:pt x="0" y="49255"/>
                    <a:pt x="49255" y="0"/>
                    <a:pt x="110013" y="0"/>
                  </a:cubicBezTo>
                  <a:close/>
                </a:path>
              </a:pathLst>
            </a:custGeom>
            <a:solidFill>
              <a:srgbClr val="00FFF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96710" cy="258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536535" y="9132566"/>
            <a:ext cx="218106" cy="271783"/>
          </a:xfrm>
          <a:custGeom>
            <a:avLst/>
            <a:gdLst/>
            <a:ahLst/>
            <a:cxnLst/>
            <a:rect r="r" b="b" t="t" l="l"/>
            <a:pathLst>
              <a:path h="271783" w="218106">
                <a:moveTo>
                  <a:pt x="0" y="0"/>
                </a:moveTo>
                <a:lnTo>
                  <a:pt x="218106" y="0"/>
                </a:lnTo>
                <a:lnTo>
                  <a:pt x="218106" y="271784"/>
                </a:lnTo>
                <a:lnTo>
                  <a:pt x="0" y="2717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97147" y="1539245"/>
            <a:ext cx="9169811" cy="9169811"/>
          </a:xfrm>
          <a:custGeom>
            <a:avLst/>
            <a:gdLst/>
            <a:ahLst/>
            <a:cxnLst/>
            <a:rect r="r" b="b" t="t" l="l"/>
            <a:pathLst>
              <a:path h="9169811" w="9169811">
                <a:moveTo>
                  <a:pt x="0" y="0"/>
                </a:moveTo>
                <a:lnTo>
                  <a:pt x="9169811" y="0"/>
                </a:lnTo>
                <a:lnTo>
                  <a:pt x="9169811" y="9169811"/>
                </a:lnTo>
                <a:lnTo>
                  <a:pt x="0" y="91698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38513" y="-1470886"/>
            <a:ext cx="17011089" cy="17011089"/>
          </a:xfrm>
          <a:custGeom>
            <a:avLst/>
            <a:gdLst/>
            <a:ahLst/>
            <a:cxnLst/>
            <a:rect r="r" b="b" t="t" l="l"/>
            <a:pathLst>
              <a:path h="17011089" w="17011089">
                <a:moveTo>
                  <a:pt x="0" y="0"/>
                </a:moveTo>
                <a:lnTo>
                  <a:pt x="17011089" y="0"/>
                </a:lnTo>
                <a:lnTo>
                  <a:pt x="17011089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268897" y="3370493"/>
            <a:ext cx="6503500" cy="5052393"/>
          </a:xfrm>
          <a:custGeom>
            <a:avLst/>
            <a:gdLst/>
            <a:ahLst/>
            <a:cxnLst/>
            <a:rect r="r" b="b" t="t" l="l"/>
            <a:pathLst>
              <a:path h="5052393" w="6503500">
                <a:moveTo>
                  <a:pt x="0" y="0"/>
                </a:moveTo>
                <a:lnTo>
                  <a:pt x="6503500" y="0"/>
                </a:lnTo>
                <a:lnTo>
                  <a:pt x="6503500" y="5052393"/>
                </a:lnTo>
                <a:lnTo>
                  <a:pt x="0" y="505239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963" r="0" b="-963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250110" y="4987081"/>
            <a:ext cx="3464415" cy="3435805"/>
          </a:xfrm>
          <a:custGeom>
            <a:avLst/>
            <a:gdLst/>
            <a:ahLst/>
            <a:cxnLst/>
            <a:rect r="r" b="b" t="t" l="l"/>
            <a:pathLst>
              <a:path h="3435805" w="3464415">
                <a:moveTo>
                  <a:pt x="0" y="0"/>
                </a:moveTo>
                <a:lnTo>
                  <a:pt x="3464415" y="0"/>
                </a:lnTo>
                <a:lnTo>
                  <a:pt x="3464415" y="3435805"/>
                </a:lnTo>
                <a:lnTo>
                  <a:pt x="0" y="34358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1544696"/>
            <a:ext cx="8676438" cy="69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0"/>
              </a:lnSpc>
            </a:pPr>
            <a:r>
              <a:rPr lang="en-US" sz="5500" spc="-14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Future Goals &amp; Scalability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6339" y="9046208"/>
            <a:ext cx="1502858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Previous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35616" y="9046208"/>
            <a:ext cx="1399255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151B1F"/>
                </a:solidFill>
                <a:latin typeface="Roboto Bold"/>
                <a:ea typeface="Roboto Bold"/>
                <a:cs typeface="Roboto Bold"/>
                <a:sym typeface="Roboto Bold"/>
              </a:rPr>
              <a:t>Next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1228" y="845185"/>
            <a:ext cx="56152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SIH:25132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82897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About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77761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72625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88033" y="845185"/>
            <a:ext cx="180911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6978" y="2375403"/>
            <a:ext cx="9625919" cy="636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Gamifi</a:t>
            </a: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cation &amp; Engagement: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Quizzes, streaks, badges, and rewards to boost learning and usage.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Community features: leaderboards, challenges, and user tips.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Platform Expansion: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Mobile apps (React Native) for iOS &amp; Android.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Regional language support (10+ Indian languages) for mass adoption.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WhatsApp / Telegram bots for micro-learning &amp; finance alerts.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Monetization &amp; Premium Features: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Paid tiers or token-based models for advanced tools.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Newsletter subscriptions with personalized insights.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Integration of advanced AI/ML for recommendations, portfolio insights, and 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personalized guidance.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Vision: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Evolve Fintera into India’s go-to all-in-one financial companion, growing with users’ financial knowledge and needs.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91856" y="2423028"/>
            <a:ext cx="273688" cy="273688"/>
          </a:xfrm>
          <a:custGeom>
            <a:avLst/>
            <a:gdLst/>
            <a:ahLst/>
            <a:cxnLst/>
            <a:rect r="r" b="b" t="t" l="l"/>
            <a:pathLst>
              <a:path h="273688" w="273688">
                <a:moveTo>
                  <a:pt x="0" y="0"/>
                </a:moveTo>
                <a:lnTo>
                  <a:pt x="273688" y="0"/>
                </a:lnTo>
                <a:lnTo>
                  <a:pt x="273688" y="273688"/>
                </a:lnTo>
                <a:lnTo>
                  <a:pt x="0" y="2736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91856" y="3761039"/>
            <a:ext cx="273688" cy="273688"/>
          </a:xfrm>
          <a:custGeom>
            <a:avLst/>
            <a:gdLst/>
            <a:ahLst/>
            <a:cxnLst/>
            <a:rect r="r" b="b" t="t" l="l"/>
            <a:pathLst>
              <a:path h="273688" w="273688">
                <a:moveTo>
                  <a:pt x="0" y="0"/>
                </a:moveTo>
                <a:lnTo>
                  <a:pt x="273688" y="0"/>
                </a:lnTo>
                <a:lnTo>
                  <a:pt x="273688" y="273688"/>
                </a:lnTo>
                <a:lnTo>
                  <a:pt x="0" y="2736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91856" y="5422957"/>
            <a:ext cx="273688" cy="273688"/>
          </a:xfrm>
          <a:custGeom>
            <a:avLst/>
            <a:gdLst/>
            <a:ahLst/>
            <a:cxnLst/>
            <a:rect r="r" b="b" t="t" l="l"/>
            <a:pathLst>
              <a:path h="273688" w="273688">
                <a:moveTo>
                  <a:pt x="0" y="0"/>
                </a:moveTo>
                <a:lnTo>
                  <a:pt x="273688" y="0"/>
                </a:lnTo>
                <a:lnTo>
                  <a:pt x="273688" y="273688"/>
                </a:lnTo>
                <a:lnTo>
                  <a:pt x="0" y="2736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34384" y="7407606"/>
            <a:ext cx="273688" cy="273688"/>
          </a:xfrm>
          <a:custGeom>
            <a:avLst/>
            <a:gdLst/>
            <a:ahLst/>
            <a:cxnLst/>
            <a:rect r="r" b="b" t="t" l="l"/>
            <a:pathLst>
              <a:path h="273688" w="273688">
                <a:moveTo>
                  <a:pt x="0" y="0"/>
                </a:moveTo>
                <a:lnTo>
                  <a:pt x="273689" y="0"/>
                </a:lnTo>
                <a:lnTo>
                  <a:pt x="273689" y="273688"/>
                </a:lnTo>
                <a:lnTo>
                  <a:pt x="0" y="2736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3413620" y="1563058"/>
            <a:ext cx="1137396" cy="47625"/>
            <a:chOff x="0" y="0"/>
            <a:chExt cx="299561" cy="125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9561" cy="12543"/>
            </a:xfrm>
            <a:custGeom>
              <a:avLst/>
              <a:gdLst/>
              <a:ahLst/>
              <a:cxnLst/>
              <a:rect r="r" b="b" t="t" l="l"/>
              <a:pathLst>
                <a:path h="12543" w="299561">
                  <a:moveTo>
                    <a:pt x="0" y="0"/>
                  </a:moveTo>
                  <a:lnTo>
                    <a:pt x="299561" y="0"/>
                  </a:lnTo>
                  <a:lnTo>
                    <a:pt x="299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755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99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DAGzzj7hJ9s</dc:identifier>
  <dcterms:modified xsi:type="dcterms:W3CDTF">2011-08-01T06:04:30Z</dcterms:modified>
  <cp:revision>1</cp:revision>
  <dc:title>FinTera Mobile App Presentation</dc:title>
</cp:coreProperties>
</file>