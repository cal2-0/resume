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chivo Black" charset="1" panose="020B0A03020202020B04"/>
      <p:regular r:id="rId13"/>
    </p:embeddedFont>
    <p:embeddedFont>
      <p:font typeface="Raleway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77867" y="-1287727"/>
            <a:ext cx="12862454" cy="12862454"/>
          </a:xfrm>
          <a:custGeom>
            <a:avLst/>
            <a:gdLst/>
            <a:ahLst/>
            <a:cxnLst/>
            <a:rect r="r" b="b" t="t" l="l"/>
            <a:pathLst>
              <a:path h="12862454" w="12862454">
                <a:moveTo>
                  <a:pt x="0" y="0"/>
                </a:moveTo>
                <a:lnTo>
                  <a:pt x="12862453" y="0"/>
                </a:lnTo>
                <a:lnTo>
                  <a:pt x="12862453" y="12862454"/>
                </a:lnTo>
                <a:lnTo>
                  <a:pt x="0" y="12862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3126" y="1337672"/>
            <a:ext cx="13736430" cy="400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3"/>
              </a:lnSpc>
            </a:pPr>
            <a:r>
              <a:rPr lang="en-US" sz="10564" spc="6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</a:t>
            </a:r>
            <a:r>
              <a:rPr lang="en-US" sz="10564" spc="6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ROBLEM STATEMENT</a:t>
            </a:r>
          </a:p>
          <a:p>
            <a:pPr algn="l">
              <a:lnSpc>
                <a:spcPts val="1035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107106" y="4607249"/>
            <a:ext cx="6915680" cy="110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092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PREVENT STAMPEDES &amp; SMART CROWD SAFETY</a:t>
            </a:r>
          </a:p>
          <a:p>
            <a:pPr algn="l">
              <a:lnSpc>
                <a:spcPts val="292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142712" y="4607249"/>
            <a:ext cx="4266559" cy="73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092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OBJECTIVE:</a:t>
            </a:r>
          </a:p>
          <a:p>
            <a:pPr algn="l">
              <a:lnSpc>
                <a:spcPts val="292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6911" y="5679235"/>
            <a:ext cx="8201510" cy="391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7"/>
              </a:lnSpc>
              <a:spcBef>
                <a:spcPct val="0"/>
              </a:spcBef>
            </a:pPr>
            <a:r>
              <a:rPr lang="en-US" sz="31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cent</a:t>
            </a:r>
            <a:r>
              <a:rPr lang="en-US" sz="31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ral issue is the significant danger posed by large, dense crowds. When a crowd becomes  too large or panic sets in, it can lead to surges, crushing, and stampedes, often resulting in serious injuries and fatalities.</a:t>
            </a:r>
          </a:p>
          <a:p>
            <a:pPr algn="l">
              <a:lnSpc>
                <a:spcPts val="447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297857" y="5641034"/>
            <a:ext cx="8544655" cy="395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681" indent="-304340" lvl="1">
              <a:lnSpc>
                <a:spcPts val="3946"/>
              </a:lnSpc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Monitor: Keep tr</a:t>
            </a:r>
            <a:r>
              <a:rPr lang="en-US" sz="281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ack of crowd density, flow, and sentiment in real-time.</a:t>
            </a:r>
          </a:p>
          <a:p>
            <a:pPr algn="l" marL="608681" indent="-304340" lvl="1">
              <a:lnSpc>
                <a:spcPts val="3946"/>
              </a:lnSpc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Detect: Identify early warning signs of potential danger, such as panic, bottlenecks, or surges.</a:t>
            </a:r>
          </a:p>
          <a:p>
            <a:pPr algn="l" marL="608681" indent="-304340" lvl="1">
              <a:lnSpc>
                <a:spcPts val="3946"/>
              </a:lnSpc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Manage: Provide tools for security or event staff to respond quickly and effectively to prevent an incident or manage one as it unfolds.</a:t>
            </a:r>
          </a:p>
          <a:p>
            <a:pPr algn="l">
              <a:lnSpc>
                <a:spcPts val="394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03126" y="4269321"/>
            <a:ext cx="2628859" cy="139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3"/>
              </a:lnSpc>
            </a:pPr>
            <a:r>
              <a:rPr lang="en-US" sz="10564" spc="-4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4269321"/>
            <a:ext cx="2628859" cy="139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3"/>
              </a:lnSpc>
            </a:pPr>
            <a:r>
              <a:rPr lang="en-US" sz="10564" spc="-4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911778" y="46301"/>
            <a:ext cx="3123092" cy="1578832"/>
          </a:xfrm>
          <a:custGeom>
            <a:avLst/>
            <a:gdLst/>
            <a:ahLst/>
            <a:cxnLst/>
            <a:rect r="r" b="b" t="t" l="l"/>
            <a:pathLst>
              <a:path h="1578832" w="3123092">
                <a:moveTo>
                  <a:pt x="0" y="0"/>
                </a:moveTo>
                <a:lnTo>
                  <a:pt x="3123091" y="0"/>
                </a:lnTo>
                <a:lnTo>
                  <a:pt x="3123091" y="1578832"/>
                </a:lnTo>
                <a:lnTo>
                  <a:pt x="0" y="1578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5346" y="46301"/>
            <a:ext cx="6361228" cy="882620"/>
          </a:xfrm>
          <a:custGeom>
            <a:avLst/>
            <a:gdLst/>
            <a:ahLst/>
            <a:cxnLst/>
            <a:rect r="r" b="b" t="t" l="l"/>
            <a:pathLst>
              <a:path h="882620" w="6361228">
                <a:moveTo>
                  <a:pt x="0" y="0"/>
                </a:moveTo>
                <a:lnTo>
                  <a:pt x="6361229" y="0"/>
                </a:lnTo>
                <a:lnTo>
                  <a:pt x="6361229" y="882621"/>
                </a:lnTo>
                <a:lnTo>
                  <a:pt x="0" y="882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676088" y="1834853"/>
            <a:ext cx="1166424" cy="52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sz="377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PS 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71294" y="-2081884"/>
            <a:ext cx="12862454" cy="12862454"/>
          </a:xfrm>
          <a:custGeom>
            <a:avLst/>
            <a:gdLst/>
            <a:ahLst/>
            <a:cxnLst/>
            <a:rect r="r" b="b" t="t" l="l"/>
            <a:pathLst>
              <a:path h="12862454" w="12862454">
                <a:moveTo>
                  <a:pt x="0" y="0"/>
                </a:moveTo>
                <a:lnTo>
                  <a:pt x="12862454" y="0"/>
                </a:lnTo>
                <a:lnTo>
                  <a:pt x="12862454" y="12862454"/>
                </a:lnTo>
                <a:lnTo>
                  <a:pt x="0" y="12862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40119" y="1645227"/>
            <a:ext cx="1374271" cy="1374271"/>
          </a:xfrm>
          <a:custGeom>
            <a:avLst/>
            <a:gdLst/>
            <a:ahLst/>
            <a:cxnLst/>
            <a:rect r="r" b="b" t="t" l="l"/>
            <a:pathLst>
              <a:path h="1374271" w="1374271">
                <a:moveTo>
                  <a:pt x="0" y="0"/>
                </a:moveTo>
                <a:lnTo>
                  <a:pt x="1374271" y="0"/>
                </a:lnTo>
                <a:lnTo>
                  <a:pt x="1374271" y="1374272"/>
                </a:lnTo>
                <a:lnTo>
                  <a:pt x="0" y="1374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8227" y="1262824"/>
            <a:ext cx="13393385" cy="388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8"/>
              </a:lnSpc>
            </a:pPr>
            <a:r>
              <a:rPr lang="en-US" sz="11998" spc="-80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PROPOSED SOLUTION </a:t>
            </a:r>
          </a:p>
          <a:p>
            <a:pPr algn="l">
              <a:lnSpc>
                <a:spcPts val="983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47407" y="3700445"/>
            <a:ext cx="6731262" cy="102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2934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MASSED.EX:</a:t>
            </a:r>
          </a:p>
          <a:p>
            <a:pPr algn="l">
              <a:lnSpc>
                <a:spcPts val="410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93384" y="5183187"/>
            <a:ext cx="601748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LAYOUT CO-PLANNER </a:t>
            </a:r>
          </a:p>
          <a:p>
            <a:pPr algn="l">
              <a:lnSpc>
                <a:spcPts val="267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949363" y="5026025"/>
            <a:ext cx="4794950" cy="135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REAL-TIME CROWD INTELLIGENCE </a:t>
            </a:r>
          </a:p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PRIMARY FEATURE)</a:t>
            </a:r>
          </a:p>
          <a:p>
            <a:pPr algn="l">
              <a:lnSpc>
                <a:spcPts val="26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41049" y="3788956"/>
            <a:ext cx="16398138" cy="145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  <a:spcBef>
                <a:spcPct val="0"/>
              </a:spcBef>
            </a:pPr>
            <a:r>
              <a:rPr lang="en-US" sz="2088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                                                       </a:t>
            </a:r>
            <a:r>
              <a:rPr lang="en-US" sz="2088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is an AI-powered SaaS platform that automates event planning and crowd management.</a:t>
            </a:r>
          </a:p>
          <a:p>
            <a:pPr algn="l">
              <a:lnSpc>
                <a:spcPts val="2923"/>
              </a:lnSpc>
              <a:spcBef>
                <a:spcPct val="0"/>
              </a:spcBef>
            </a:pPr>
            <a:r>
              <a:rPr lang="en-US" sz="2088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It analyzes venue layouts, crowd size, and volunteer data to instantly generate optimized maps, schedules, and safety plans — all in one click.</a:t>
            </a:r>
          </a:p>
          <a:p>
            <a:pPr algn="l">
              <a:lnSpc>
                <a:spcPts val="292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21511" y="5922341"/>
            <a:ext cx="4922530" cy="436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234" indent="-243617" lvl="1">
              <a:lnSpc>
                <a:spcPts val="3159"/>
              </a:lnSpc>
              <a:buFont typeface="Arial"/>
              <a:buChar char="•"/>
            </a:pPr>
            <a:r>
              <a:rPr lang="en-US" sz="2256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Upload blueprint → AI generates optimized event layout</a:t>
            </a:r>
          </a:p>
          <a:p>
            <a:pPr algn="l" marL="487234" indent="-243617" lvl="1">
              <a:lnSpc>
                <a:spcPts val="3159"/>
              </a:lnSpc>
              <a:buFont typeface="Arial"/>
              <a:buChar char="•"/>
            </a:pPr>
            <a:r>
              <a:rPr lang="en-US" sz="2256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Auto-places gates, stalls, VIP zones, washrooms</a:t>
            </a:r>
          </a:p>
          <a:p>
            <a:pPr algn="l" marL="487234" indent="-243617" lvl="1">
              <a:lnSpc>
                <a:spcPts val="3159"/>
              </a:lnSpc>
              <a:buFont typeface="Arial"/>
              <a:buChar char="•"/>
            </a:pPr>
            <a:r>
              <a:rPr lang="en-US" sz="2256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Computes crowd flow paths &amp; evacuation routes</a:t>
            </a:r>
          </a:p>
          <a:p>
            <a:pPr algn="l" marL="487234" indent="-243617" lvl="1">
              <a:lnSpc>
                <a:spcPts val="3159"/>
              </a:lnSpc>
              <a:buFont typeface="Arial"/>
              <a:buChar char="•"/>
            </a:pPr>
            <a:r>
              <a:rPr lang="en-US" sz="2256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Fully editable with Konva.js canvas</a:t>
            </a:r>
          </a:p>
          <a:p>
            <a:pPr algn="l" marL="487234" indent="-243617" lvl="1">
              <a:lnSpc>
                <a:spcPts val="3159"/>
              </a:lnSpc>
              <a:buFont typeface="Arial"/>
              <a:buChar char="•"/>
            </a:pPr>
            <a:r>
              <a:rPr lang="en-US" sz="2256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Auto-generated PDF safety report</a:t>
            </a:r>
          </a:p>
          <a:p>
            <a:pPr algn="l">
              <a:lnSpc>
                <a:spcPts val="31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710866" y="6159500"/>
            <a:ext cx="5033446" cy="398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553" indent="-271277" lvl="1">
              <a:lnSpc>
                <a:spcPts val="3518"/>
              </a:lnSpc>
              <a:buFont typeface="Arial"/>
              <a:buChar char="•"/>
            </a:pPr>
            <a:r>
              <a:rPr lang="en-US" sz="2512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YOLO-based people detection</a:t>
            </a:r>
          </a:p>
          <a:p>
            <a:pPr algn="l" marL="542553" indent="-271277" lvl="1">
              <a:lnSpc>
                <a:spcPts val="3518"/>
              </a:lnSpc>
              <a:buFont typeface="Arial"/>
              <a:buChar char="•"/>
            </a:pPr>
            <a:r>
              <a:rPr lang="en-US" sz="2512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Heatmap density calculation</a:t>
            </a:r>
          </a:p>
          <a:p>
            <a:pPr algn="l" marL="542553" indent="-271277" lvl="1">
              <a:lnSpc>
                <a:spcPts val="3518"/>
              </a:lnSpc>
              <a:buFont typeface="Arial"/>
              <a:buChar char="•"/>
            </a:pPr>
            <a:r>
              <a:rPr lang="en-US" sz="2512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Danger-zone alerts &amp; real-time warnings</a:t>
            </a:r>
          </a:p>
          <a:p>
            <a:pPr algn="l" marL="542553" indent="-271277" lvl="1">
              <a:lnSpc>
                <a:spcPts val="3518"/>
              </a:lnSpc>
              <a:buFont typeface="Arial"/>
              <a:buChar char="•"/>
            </a:pPr>
            <a:r>
              <a:rPr lang="en-US" sz="2512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Entry/exit counting</a:t>
            </a:r>
          </a:p>
          <a:p>
            <a:pPr algn="l" marL="542553" indent="-271277" lvl="1">
              <a:lnSpc>
                <a:spcPts val="3518"/>
              </a:lnSpc>
              <a:buFont typeface="Arial"/>
              <a:buChar char="•"/>
            </a:pPr>
            <a:r>
              <a:rPr lang="en-US" sz="2512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Volunteer navigation &amp; waypoint commands</a:t>
            </a:r>
          </a:p>
          <a:p>
            <a:pPr algn="l">
              <a:lnSpc>
                <a:spcPts val="3518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389400" y="59160"/>
            <a:ext cx="2898600" cy="1465344"/>
          </a:xfrm>
          <a:custGeom>
            <a:avLst/>
            <a:gdLst/>
            <a:ahLst/>
            <a:cxnLst/>
            <a:rect r="r" b="b" t="t" l="l"/>
            <a:pathLst>
              <a:path h="1465344" w="2898600">
                <a:moveTo>
                  <a:pt x="0" y="0"/>
                </a:moveTo>
                <a:lnTo>
                  <a:pt x="2898600" y="0"/>
                </a:lnTo>
                <a:lnTo>
                  <a:pt x="2898600" y="1465343"/>
                </a:lnTo>
                <a:lnTo>
                  <a:pt x="0" y="1465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227" y="59160"/>
            <a:ext cx="6361228" cy="882620"/>
          </a:xfrm>
          <a:custGeom>
            <a:avLst/>
            <a:gdLst/>
            <a:ahLst/>
            <a:cxnLst/>
            <a:rect r="r" b="b" t="t" l="l"/>
            <a:pathLst>
              <a:path h="882620" w="6361228">
                <a:moveTo>
                  <a:pt x="0" y="0"/>
                </a:moveTo>
                <a:lnTo>
                  <a:pt x="6361229" y="0"/>
                </a:lnTo>
                <a:lnTo>
                  <a:pt x="6361229" y="882620"/>
                </a:lnTo>
                <a:lnTo>
                  <a:pt x="0" y="882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676088" y="1683327"/>
            <a:ext cx="1166424" cy="52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sz="377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PS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71539" y="5162550"/>
            <a:ext cx="479495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ATTENDEE DASHBOARD (PUBLIC PORTAL)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49635" y="6169025"/>
            <a:ext cx="5079897" cy="3796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253" indent="-291627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Event map + facilities</a:t>
            </a:r>
          </a:p>
          <a:p>
            <a:pPr algn="l" marL="583253" indent="-291627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Food, activities, performer lineup</a:t>
            </a:r>
          </a:p>
          <a:p>
            <a:pPr algn="l" marL="583253" indent="-291627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Nearest exits, parking, transport</a:t>
            </a:r>
          </a:p>
          <a:p>
            <a:pPr algn="l" marL="583253" indent="-291627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QR-scannable event info page</a:t>
            </a:r>
          </a:p>
          <a:p>
            <a:pPr algn="l">
              <a:lnSpc>
                <a:spcPts val="37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696920"/>
            <a:ext cx="18288000" cy="4590080"/>
            <a:chOff x="0" y="0"/>
            <a:chExt cx="4816593" cy="12089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208910"/>
            </a:xfrm>
            <a:custGeom>
              <a:avLst/>
              <a:gdLst/>
              <a:ahLst/>
              <a:cxnLst/>
              <a:rect r="r" b="b" t="t" l="l"/>
              <a:pathLst>
                <a:path h="120891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08910"/>
                  </a:lnTo>
                  <a:lnTo>
                    <a:pt x="0" y="1208910"/>
                  </a:lnTo>
                  <a:close/>
                </a:path>
              </a:pathLst>
            </a:custGeom>
            <a:solidFill>
              <a:srgbClr val="FC67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16593" cy="118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76519" y="7392647"/>
            <a:ext cx="1165452" cy="1165452"/>
          </a:xfrm>
          <a:custGeom>
            <a:avLst/>
            <a:gdLst/>
            <a:ahLst/>
            <a:cxnLst/>
            <a:rect r="r" b="b" t="t" l="l"/>
            <a:pathLst>
              <a:path h="1165452" w="1165452">
                <a:moveTo>
                  <a:pt x="0" y="0"/>
                </a:moveTo>
                <a:lnTo>
                  <a:pt x="1165451" y="0"/>
                </a:lnTo>
                <a:lnTo>
                  <a:pt x="1165451" y="1165452"/>
                </a:lnTo>
                <a:lnTo>
                  <a:pt x="0" y="1165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47345" y="7325972"/>
            <a:ext cx="1298802" cy="1298802"/>
          </a:xfrm>
          <a:custGeom>
            <a:avLst/>
            <a:gdLst/>
            <a:ahLst/>
            <a:cxnLst/>
            <a:rect r="r" b="b" t="t" l="l"/>
            <a:pathLst>
              <a:path h="1298802" w="1298802">
                <a:moveTo>
                  <a:pt x="0" y="0"/>
                </a:moveTo>
                <a:lnTo>
                  <a:pt x="1298801" y="0"/>
                </a:lnTo>
                <a:lnTo>
                  <a:pt x="1298801" y="1298802"/>
                </a:lnTo>
                <a:lnTo>
                  <a:pt x="0" y="1298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526076"/>
            <a:ext cx="8768783" cy="350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4"/>
              </a:lnSpc>
              <a:spcBef>
                <a:spcPct val="0"/>
              </a:spcBef>
            </a:pPr>
            <a:r>
              <a:rPr lang="en-US" sz="8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</a:t>
            </a:r>
            <a:r>
              <a:rPr lang="en-US" sz="8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NICAL APPROACH</a:t>
            </a:r>
          </a:p>
          <a:p>
            <a:pPr algn="l">
              <a:lnSpc>
                <a:spcPts val="9094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57275" y="1999026"/>
            <a:ext cx="695659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CRAFTING YOUR BRAND MESSAGE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765891" y="5416684"/>
            <a:ext cx="6842212" cy="242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1"/>
              </a:lnSpc>
            </a:pPr>
            <a:r>
              <a:rPr lang="en-US" sz="6915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Frontend</a:t>
            </a:r>
          </a:p>
          <a:p>
            <a:pPr algn="ctr">
              <a:lnSpc>
                <a:spcPts val="968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7625" y="6630010"/>
            <a:ext cx="4876121" cy="365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783" indent="-294391" lvl="1">
              <a:lnSpc>
                <a:spcPts val="2918"/>
              </a:lnSpc>
              <a:buFont typeface="Arial"/>
              <a:buChar char="•"/>
            </a:pPr>
            <a:r>
              <a:rPr lang="en-US" sz="2727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REACT / NEXT.JS — FAST, INTERACTIVE DASHBOARD</a:t>
            </a:r>
          </a:p>
          <a:p>
            <a:pPr algn="l" marL="588783" indent="-294391" lvl="1">
              <a:lnSpc>
                <a:spcPts val="2918"/>
              </a:lnSpc>
              <a:buFont typeface="Arial"/>
              <a:buChar char="•"/>
            </a:pPr>
            <a:r>
              <a:rPr lang="en-US" sz="2727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KONVA.JS – EDITABLE BLUEPRINT CANVAS</a:t>
            </a:r>
          </a:p>
          <a:p>
            <a:pPr algn="l" marL="588783" indent="-294391" lvl="1">
              <a:lnSpc>
                <a:spcPts val="2918"/>
              </a:lnSpc>
              <a:buFont typeface="Arial"/>
              <a:buChar char="•"/>
            </a:pPr>
            <a:r>
              <a:rPr lang="en-US" sz="2727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MAPBOX / GOOGLE MAPS – GEO-CONTEXT &amp; PARKING</a:t>
            </a:r>
          </a:p>
          <a:p>
            <a:pPr algn="l">
              <a:lnSpc>
                <a:spcPts val="291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941970" y="6630010"/>
            <a:ext cx="6201624" cy="426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524" indent="-264262" lvl="1">
              <a:lnSpc>
                <a:spcPts val="2619"/>
              </a:lnSpc>
              <a:buFont typeface="Arial"/>
              <a:buChar char="•"/>
            </a:pPr>
            <a:r>
              <a:rPr lang="en-US" sz="244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FASTAPI — HIGH-SPEED API BACKBONE</a:t>
            </a:r>
          </a:p>
          <a:p>
            <a:pPr algn="l" marL="528524" indent="-264262" lvl="1">
              <a:lnSpc>
                <a:spcPts val="2619"/>
              </a:lnSpc>
              <a:buFont typeface="Arial"/>
              <a:buChar char="•"/>
            </a:pPr>
            <a:r>
              <a:rPr lang="en-US" sz="244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OPENCV + PYTORCH — BLUEPRINT ANALYSIS &amp; DENSITY MODELS</a:t>
            </a:r>
          </a:p>
          <a:p>
            <a:pPr algn="l" marL="528524" indent="-264262" lvl="1">
              <a:lnSpc>
                <a:spcPts val="2619"/>
              </a:lnSpc>
              <a:buFont typeface="Arial"/>
              <a:buChar char="•"/>
            </a:pPr>
            <a:r>
              <a:rPr lang="en-US" sz="244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PYTHON (FASTAPI)</a:t>
            </a:r>
          </a:p>
          <a:p>
            <a:pPr algn="l" marL="528524" indent="-264262" lvl="1">
              <a:lnSpc>
                <a:spcPts val="2619"/>
              </a:lnSpc>
              <a:buFont typeface="Arial"/>
              <a:buChar char="•"/>
            </a:pPr>
            <a:r>
              <a:rPr lang="en-US" sz="244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YOLOV8 + BYTETRACK — PEOPLE DETECTION</a:t>
            </a:r>
          </a:p>
          <a:p>
            <a:pPr algn="l" marL="528524" indent="-264262" lvl="1">
              <a:lnSpc>
                <a:spcPts val="2619"/>
              </a:lnSpc>
              <a:buFont typeface="Arial"/>
              <a:buChar char="•"/>
            </a:pPr>
            <a:r>
              <a:rPr lang="en-US" sz="244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OPENCV — HEATMAPS</a:t>
            </a:r>
          </a:p>
          <a:p>
            <a:pPr algn="l" marL="528524" indent="-264262" lvl="1">
              <a:lnSpc>
                <a:spcPts val="2619"/>
              </a:lnSpc>
              <a:buFont typeface="Arial"/>
              <a:buChar char="•"/>
            </a:pPr>
            <a:r>
              <a:rPr lang="en-US" sz="244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GPT API — AI LAYOUT JSON GENERATION</a:t>
            </a:r>
          </a:p>
          <a:p>
            <a:pPr algn="l">
              <a:lnSpc>
                <a:spcPts val="2619"/>
              </a:lnSpc>
            </a:pPr>
          </a:p>
          <a:p>
            <a:pPr algn="l">
              <a:lnSpc>
                <a:spcPts val="261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012875" y="7222420"/>
            <a:ext cx="4830123" cy="2922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6298" indent="-293149" lvl="1">
              <a:lnSpc>
                <a:spcPts val="2905"/>
              </a:lnSpc>
              <a:buFont typeface="Arial"/>
              <a:buChar char="•"/>
            </a:pPr>
            <a:r>
              <a:rPr lang="en-US" sz="2715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SUPABASE — EVENT INFO + PUBLIC DASHBOARD</a:t>
            </a:r>
          </a:p>
          <a:p>
            <a:pPr algn="l" marL="586298" indent="-293149" lvl="1">
              <a:lnSpc>
                <a:spcPts val="2905"/>
              </a:lnSpc>
              <a:buFont typeface="Arial"/>
              <a:buChar char="•"/>
            </a:pPr>
            <a:r>
              <a:rPr lang="en-US" sz="2715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S3 Bucket — blueprint storage</a:t>
            </a:r>
          </a:p>
          <a:p>
            <a:pPr algn="l" marL="586298" indent="-293149" lvl="1">
              <a:lnSpc>
                <a:spcPts val="2905"/>
              </a:lnSpc>
              <a:buFont typeface="Arial"/>
              <a:buChar char="•"/>
            </a:pPr>
            <a:r>
              <a:rPr lang="en-US" sz="2715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HTML2CANVAS + JSPDF → PDF GENERATION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23746" y="5416684"/>
            <a:ext cx="6842212" cy="119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1"/>
              </a:lnSpc>
            </a:pPr>
            <a:r>
              <a:rPr lang="en-US" sz="6915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95554" y="5566444"/>
            <a:ext cx="5596588" cy="227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4318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Exports &amp;&amp; Integrations</a:t>
            </a:r>
          </a:p>
          <a:p>
            <a:pPr algn="l">
              <a:lnSpc>
                <a:spcPts val="6045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494010" y="507956"/>
            <a:ext cx="4781924" cy="4781924"/>
          </a:xfrm>
          <a:custGeom>
            <a:avLst/>
            <a:gdLst/>
            <a:ahLst/>
            <a:cxnLst/>
            <a:rect r="r" b="b" t="t" l="l"/>
            <a:pathLst>
              <a:path h="4781924" w="4781924">
                <a:moveTo>
                  <a:pt x="0" y="0"/>
                </a:moveTo>
                <a:lnTo>
                  <a:pt x="4781924" y="0"/>
                </a:lnTo>
                <a:lnTo>
                  <a:pt x="4781924" y="4781924"/>
                </a:lnTo>
                <a:lnTo>
                  <a:pt x="0" y="4781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00506" y="1028700"/>
            <a:ext cx="1165452" cy="1165452"/>
          </a:xfrm>
          <a:custGeom>
            <a:avLst/>
            <a:gdLst/>
            <a:ahLst/>
            <a:cxnLst/>
            <a:rect r="r" b="b" t="t" l="l"/>
            <a:pathLst>
              <a:path h="1165452" w="1165452">
                <a:moveTo>
                  <a:pt x="0" y="0"/>
                </a:moveTo>
                <a:lnTo>
                  <a:pt x="1165452" y="0"/>
                </a:lnTo>
                <a:lnTo>
                  <a:pt x="1165452" y="1165452"/>
                </a:lnTo>
                <a:lnTo>
                  <a:pt x="0" y="1165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093848" y="4229780"/>
            <a:ext cx="1165452" cy="1165452"/>
          </a:xfrm>
          <a:custGeom>
            <a:avLst/>
            <a:gdLst/>
            <a:ahLst/>
            <a:cxnLst/>
            <a:rect r="r" b="b" t="t" l="l"/>
            <a:pathLst>
              <a:path h="1165452" w="1165452">
                <a:moveTo>
                  <a:pt x="0" y="0"/>
                </a:moveTo>
                <a:lnTo>
                  <a:pt x="1165452" y="0"/>
                </a:lnTo>
                <a:lnTo>
                  <a:pt x="1165452" y="1165452"/>
                </a:lnTo>
                <a:lnTo>
                  <a:pt x="0" y="1165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37179" y="225210"/>
            <a:ext cx="2878789" cy="1455329"/>
          </a:xfrm>
          <a:custGeom>
            <a:avLst/>
            <a:gdLst/>
            <a:ahLst/>
            <a:cxnLst/>
            <a:rect r="r" b="b" t="t" l="l"/>
            <a:pathLst>
              <a:path h="1455329" w="2878789">
                <a:moveTo>
                  <a:pt x="0" y="0"/>
                </a:moveTo>
                <a:lnTo>
                  <a:pt x="2878790" y="0"/>
                </a:lnTo>
                <a:lnTo>
                  <a:pt x="2878790" y="1455328"/>
                </a:lnTo>
                <a:lnTo>
                  <a:pt x="0" y="14553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1139" y="225210"/>
            <a:ext cx="6361228" cy="882620"/>
          </a:xfrm>
          <a:custGeom>
            <a:avLst/>
            <a:gdLst/>
            <a:ahLst/>
            <a:cxnLst/>
            <a:rect r="r" b="b" t="t" l="l"/>
            <a:pathLst>
              <a:path h="882620" w="6361228">
                <a:moveTo>
                  <a:pt x="0" y="0"/>
                </a:moveTo>
                <a:lnTo>
                  <a:pt x="6361229" y="0"/>
                </a:lnTo>
                <a:lnTo>
                  <a:pt x="6361229" y="882620"/>
                </a:lnTo>
                <a:lnTo>
                  <a:pt x="0" y="882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676574" y="1811070"/>
            <a:ext cx="1166424" cy="52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sz="377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PS 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654" y="6153606"/>
            <a:ext cx="16804846" cy="318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79"/>
              </a:lnSpc>
            </a:pPr>
          </a:p>
          <a:p>
            <a:pPr algn="just">
              <a:lnSpc>
                <a:spcPts val="8079"/>
              </a:lnSpc>
            </a:pPr>
            <a:r>
              <a:rPr lang="en-US" sz="9852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WORKING</a:t>
            </a:r>
          </a:p>
          <a:p>
            <a:pPr algn="just">
              <a:lnSpc>
                <a:spcPts val="8079"/>
              </a:lnSpc>
            </a:pPr>
            <a:r>
              <a:rPr lang="en-US" sz="9852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&amp; FUNCTIONALITY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671422" y="7823573"/>
            <a:ext cx="2463427" cy="2463427"/>
          </a:xfrm>
          <a:custGeom>
            <a:avLst/>
            <a:gdLst/>
            <a:ahLst/>
            <a:cxnLst/>
            <a:rect r="r" b="b" t="t" l="l"/>
            <a:pathLst>
              <a:path h="2463427" w="2463427">
                <a:moveTo>
                  <a:pt x="0" y="0"/>
                </a:moveTo>
                <a:lnTo>
                  <a:pt x="2463427" y="0"/>
                </a:lnTo>
                <a:lnTo>
                  <a:pt x="2463427" y="2463427"/>
                </a:lnTo>
                <a:lnTo>
                  <a:pt x="0" y="2463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34849" y="8092953"/>
            <a:ext cx="734651" cy="734651"/>
          </a:xfrm>
          <a:custGeom>
            <a:avLst/>
            <a:gdLst/>
            <a:ahLst/>
            <a:cxnLst/>
            <a:rect r="r" b="b" t="t" l="l"/>
            <a:pathLst>
              <a:path h="734651" w="734651">
                <a:moveTo>
                  <a:pt x="0" y="0"/>
                </a:moveTo>
                <a:lnTo>
                  <a:pt x="734651" y="0"/>
                </a:lnTo>
                <a:lnTo>
                  <a:pt x="734651" y="734650"/>
                </a:lnTo>
                <a:lnTo>
                  <a:pt x="0" y="734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84314" y="7042417"/>
            <a:ext cx="1050535" cy="1050535"/>
          </a:xfrm>
          <a:custGeom>
            <a:avLst/>
            <a:gdLst/>
            <a:ahLst/>
            <a:cxnLst/>
            <a:rect r="r" b="b" t="t" l="l"/>
            <a:pathLst>
              <a:path h="1050535" w="1050535">
                <a:moveTo>
                  <a:pt x="0" y="0"/>
                </a:moveTo>
                <a:lnTo>
                  <a:pt x="1050535" y="0"/>
                </a:lnTo>
                <a:lnTo>
                  <a:pt x="1050535" y="1050536"/>
                </a:lnTo>
                <a:lnTo>
                  <a:pt x="0" y="1050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03135" y="8827603"/>
            <a:ext cx="2886836" cy="1459397"/>
          </a:xfrm>
          <a:custGeom>
            <a:avLst/>
            <a:gdLst/>
            <a:ahLst/>
            <a:cxnLst/>
            <a:rect r="r" b="b" t="t" l="l"/>
            <a:pathLst>
              <a:path h="1459397" w="2886836">
                <a:moveTo>
                  <a:pt x="0" y="0"/>
                </a:moveTo>
                <a:lnTo>
                  <a:pt x="2886836" y="0"/>
                </a:lnTo>
                <a:lnTo>
                  <a:pt x="2886836" y="1459397"/>
                </a:lnTo>
                <a:lnTo>
                  <a:pt x="0" y="1459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654" y="9258300"/>
            <a:ext cx="6361228" cy="882620"/>
          </a:xfrm>
          <a:custGeom>
            <a:avLst/>
            <a:gdLst/>
            <a:ahLst/>
            <a:cxnLst/>
            <a:rect r="r" b="b" t="t" l="l"/>
            <a:pathLst>
              <a:path h="882620" w="6361228">
                <a:moveTo>
                  <a:pt x="0" y="0"/>
                </a:moveTo>
                <a:lnTo>
                  <a:pt x="6361228" y="0"/>
                </a:lnTo>
                <a:lnTo>
                  <a:pt x="6361228" y="882620"/>
                </a:lnTo>
                <a:lnTo>
                  <a:pt x="0" y="882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47658" y="0"/>
            <a:ext cx="18435658" cy="6613792"/>
          </a:xfrm>
          <a:custGeom>
            <a:avLst/>
            <a:gdLst/>
            <a:ahLst/>
            <a:cxnLst/>
            <a:rect r="r" b="b" t="t" l="l"/>
            <a:pathLst>
              <a:path h="6613792" w="18435658">
                <a:moveTo>
                  <a:pt x="0" y="0"/>
                </a:moveTo>
                <a:lnTo>
                  <a:pt x="18435658" y="0"/>
                </a:lnTo>
                <a:lnTo>
                  <a:pt x="18435658" y="6613792"/>
                </a:lnTo>
                <a:lnTo>
                  <a:pt x="0" y="66137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99606" y="0"/>
            <a:ext cx="1328520" cy="708198"/>
            <a:chOff x="0" y="0"/>
            <a:chExt cx="349898" cy="1865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9898" cy="186521"/>
            </a:xfrm>
            <a:custGeom>
              <a:avLst/>
              <a:gdLst/>
              <a:ahLst/>
              <a:cxnLst/>
              <a:rect r="r" b="b" t="t" l="l"/>
              <a:pathLst>
                <a:path h="186521" w="349898">
                  <a:moveTo>
                    <a:pt x="0" y="0"/>
                  </a:moveTo>
                  <a:lnTo>
                    <a:pt x="349898" y="0"/>
                  </a:lnTo>
                  <a:lnTo>
                    <a:pt x="349898" y="186521"/>
                  </a:lnTo>
                  <a:lnTo>
                    <a:pt x="0" y="18652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349898" cy="16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496675" y="8215172"/>
            <a:ext cx="1166424" cy="52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sz="377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PS 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6934" y="4038757"/>
            <a:ext cx="9785341" cy="9785341"/>
          </a:xfrm>
          <a:custGeom>
            <a:avLst/>
            <a:gdLst/>
            <a:ahLst/>
            <a:cxnLst/>
            <a:rect r="r" b="b" t="t" l="l"/>
            <a:pathLst>
              <a:path h="9785341" w="9785341">
                <a:moveTo>
                  <a:pt x="0" y="0"/>
                </a:moveTo>
                <a:lnTo>
                  <a:pt x="9785341" y="0"/>
                </a:lnTo>
                <a:lnTo>
                  <a:pt x="9785341" y="9785340"/>
                </a:lnTo>
                <a:lnTo>
                  <a:pt x="0" y="9785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092647"/>
            <a:ext cx="18755583" cy="792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0"/>
              </a:lnSpc>
            </a:pPr>
            <a:r>
              <a:rPr lang="en-US" sz="12500" spc="-837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MARKET FOCUS &amp; FUTURE TRAJECTORY</a:t>
            </a:r>
          </a:p>
          <a:p>
            <a:pPr algn="l">
              <a:lnSpc>
                <a:spcPts val="10250"/>
              </a:lnSpc>
            </a:pPr>
          </a:p>
          <a:p>
            <a:pPr algn="l">
              <a:lnSpc>
                <a:spcPts val="10250"/>
              </a:lnSpc>
            </a:pPr>
          </a:p>
          <a:p>
            <a:pPr algn="l">
              <a:lnSpc>
                <a:spcPts val="10250"/>
              </a:lnSpc>
            </a:pPr>
          </a:p>
          <a:p>
            <a:pPr algn="l">
              <a:lnSpc>
                <a:spcPts val="1025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30296" y="8645537"/>
            <a:ext cx="907516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“DESIGNED FOR ORGANIZERS, BUILT FOR SAFETY”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42" y="527050"/>
            <a:ext cx="2833634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TARGET AUDIENCE:</a:t>
            </a:r>
          </a:p>
          <a:p>
            <a:pPr algn="l">
              <a:lnSpc>
                <a:spcPts val="267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179763" y="1425810"/>
            <a:ext cx="4267052" cy="458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0344" indent="-285172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Event organizers &amp; college fest committees</a:t>
            </a:r>
          </a:p>
          <a:p>
            <a:pPr algn="l" marL="570344" indent="-285172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Expo centers &amp; large venues</a:t>
            </a:r>
          </a:p>
          <a:p>
            <a:pPr algn="l" marL="570344" indent="-285172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Police, disaster-response units</a:t>
            </a:r>
          </a:p>
          <a:p>
            <a:pPr algn="l" marL="570344" indent="-285172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Municipal event authorities</a:t>
            </a:r>
          </a:p>
          <a:p>
            <a:pPr algn="l">
              <a:lnSpc>
                <a:spcPts val="369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57928" y="527050"/>
            <a:ext cx="3568420" cy="16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MONETIZATION STRATEGY</a:t>
            </a:r>
          </a:p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SAAS MODEL:</a:t>
            </a:r>
          </a:p>
          <a:p>
            <a:pPr algn="l">
              <a:lnSpc>
                <a:spcPts val="2674"/>
              </a:lnSpc>
            </a:pPr>
          </a:p>
          <a:p>
            <a:pPr algn="l">
              <a:lnSpc>
                <a:spcPts val="26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913707" y="1477267"/>
            <a:ext cx="4256864" cy="405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9"/>
              </a:lnSpc>
            </a:pPr>
          </a:p>
          <a:p>
            <a:pPr algn="l" marL="553483" indent="-276742" lvl="1">
              <a:lnSpc>
                <a:spcPts val="3589"/>
              </a:lnSpc>
              <a:buFont typeface="Arial"/>
              <a:buChar char="•"/>
            </a:pPr>
            <a:r>
              <a:rPr lang="en-US" sz="2563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Free Tier: AI layout planner + PDF export</a:t>
            </a:r>
          </a:p>
          <a:p>
            <a:pPr algn="l" marL="553483" indent="-276742" lvl="1">
              <a:lnSpc>
                <a:spcPts val="3589"/>
              </a:lnSpc>
              <a:buFont typeface="Arial"/>
              <a:buChar char="•"/>
            </a:pPr>
            <a:r>
              <a:rPr lang="en-US" sz="2563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Pro Tier: Live heatmaps + CV tracking + alerts</a:t>
            </a:r>
          </a:p>
          <a:p>
            <a:pPr algn="l" marL="553483" indent="-276742" lvl="1">
              <a:lnSpc>
                <a:spcPts val="3589"/>
              </a:lnSpc>
              <a:buFont typeface="Arial"/>
              <a:buChar char="•"/>
            </a:pPr>
            <a:r>
              <a:rPr lang="en-US" sz="2563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Pay-Per-Event: One-time planning tool for festivals</a:t>
            </a:r>
          </a:p>
          <a:p>
            <a:pPr algn="l">
              <a:lnSpc>
                <a:spcPts val="358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026870" y="673100"/>
            <a:ext cx="387458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GOALS:</a:t>
            </a:r>
          </a:p>
          <a:p>
            <a:pPr algn="l">
              <a:lnSpc>
                <a:spcPts val="267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785552" y="1310808"/>
            <a:ext cx="4468548" cy="438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6908" indent="-298454" lvl="1">
              <a:lnSpc>
                <a:spcPts val="3870"/>
              </a:lnSpc>
              <a:buFont typeface="Arial"/>
              <a:buChar char="•"/>
            </a:pPr>
            <a:r>
              <a:rPr lang="en-US" sz="2764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Live</a:t>
            </a:r>
            <a:r>
              <a:rPr lang="en-US" sz="2764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 Volunteer tracking + automated alerts</a:t>
            </a:r>
          </a:p>
          <a:p>
            <a:pPr algn="l" marL="596908" indent="-298454" lvl="1">
              <a:lnSpc>
                <a:spcPts val="3870"/>
              </a:lnSpc>
              <a:buFont typeface="Arial"/>
              <a:buChar char="•"/>
            </a:pPr>
            <a:r>
              <a:rPr lang="en-US" sz="2764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Real-time gate load balancing</a:t>
            </a:r>
          </a:p>
          <a:p>
            <a:pPr algn="l" marL="596908" indent="-298454" lvl="1">
              <a:lnSpc>
                <a:spcPts val="3870"/>
              </a:lnSpc>
              <a:buFont typeface="Arial"/>
              <a:buChar char="•"/>
            </a:pPr>
            <a:r>
              <a:rPr lang="en-US" sz="2764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Volunteer navigation app</a:t>
            </a:r>
          </a:p>
          <a:p>
            <a:pPr algn="l" marL="596908" indent="-298454" lvl="1">
              <a:lnSpc>
                <a:spcPts val="3870"/>
              </a:lnSpc>
              <a:buFont typeface="Arial"/>
              <a:buChar char="•"/>
            </a:pPr>
            <a:r>
              <a:rPr lang="en-US" sz="2764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Smart city event command center</a:t>
            </a:r>
          </a:p>
          <a:p>
            <a:pPr algn="l">
              <a:lnSpc>
                <a:spcPts val="387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627298"/>
            <a:ext cx="3568420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LONG-TERM POTENTIAL:</a:t>
            </a:r>
          </a:p>
          <a:p>
            <a:pPr algn="l">
              <a:lnSpc>
                <a:spcPts val="267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813883" y="1392120"/>
            <a:ext cx="4323969" cy="409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145" indent="-279072" lvl="1">
              <a:lnSpc>
                <a:spcPts val="3619"/>
              </a:lnSpc>
              <a:buFont typeface="Arial"/>
              <a:buChar char="•"/>
            </a:pPr>
            <a:r>
              <a:rPr lang="en-US" sz="2585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City-wid</a:t>
            </a:r>
            <a:r>
              <a:rPr lang="en-US" sz="2585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e crowd analytics for mass gatherings</a:t>
            </a:r>
          </a:p>
          <a:p>
            <a:pPr algn="l" marL="558145" indent="-279072" lvl="1">
              <a:lnSpc>
                <a:spcPts val="3619"/>
              </a:lnSpc>
              <a:buFont typeface="Arial"/>
              <a:buChar char="•"/>
            </a:pPr>
            <a:r>
              <a:rPr lang="en-US" sz="2585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Integrations with CCTV, IoT sensors &amp; drones</a:t>
            </a:r>
          </a:p>
          <a:p>
            <a:pPr algn="l" marL="558145" indent="-279072" lvl="1">
              <a:lnSpc>
                <a:spcPts val="3619"/>
              </a:lnSpc>
              <a:buFont typeface="Arial"/>
              <a:buChar char="•"/>
            </a:pPr>
            <a:r>
              <a:rPr lang="en-US" sz="2585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Predictive safety intelligence for future events</a:t>
            </a:r>
          </a:p>
          <a:p>
            <a:pPr algn="l">
              <a:lnSpc>
                <a:spcPts val="3619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398259" y="9077337"/>
            <a:ext cx="2353504" cy="1189779"/>
          </a:xfrm>
          <a:custGeom>
            <a:avLst/>
            <a:gdLst/>
            <a:ahLst/>
            <a:cxnLst/>
            <a:rect r="r" b="b" t="t" l="l"/>
            <a:pathLst>
              <a:path h="1189779" w="2353504">
                <a:moveTo>
                  <a:pt x="0" y="0"/>
                </a:moveTo>
                <a:lnTo>
                  <a:pt x="2353504" y="0"/>
                </a:lnTo>
                <a:lnTo>
                  <a:pt x="2353504" y="1189779"/>
                </a:lnTo>
                <a:lnTo>
                  <a:pt x="0" y="118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642" y="9258300"/>
            <a:ext cx="6361228" cy="882620"/>
          </a:xfrm>
          <a:custGeom>
            <a:avLst/>
            <a:gdLst/>
            <a:ahLst/>
            <a:cxnLst/>
            <a:rect r="r" b="b" t="t" l="l"/>
            <a:pathLst>
              <a:path h="882620" w="6361228">
                <a:moveTo>
                  <a:pt x="0" y="0"/>
                </a:moveTo>
                <a:lnTo>
                  <a:pt x="6361229" y="0"/>
                </a:lnTo>
                <a:lnTo>
                  <a:pt x="6361229" y="882620"/>
                </a:lnTo>
                <a:lnTo>
                  <a:pt x="0" y="882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092876" y="8549026"/>
            <a:ext cx="1166424" cy="52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sz="377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PS 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404341"/>
            <a:ext cx="15373070" cy="916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3"/>
              </a:lnSpc>
            </a:pPr>
            <a:r>
              <a:rPr lang="en-US" sz="771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</a:t>
            </a:r>
            <a:r>
              <a:rPr lang="en-US" sz="771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O&amp; SNEAK PEAK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602459" y="346289"/>
            <a:ext cx="2251072" cy="2251072"/>
          </a:xfrm>
          <a:custGeom>
            <a:avLst/>
            <a:gdLst/>
            <a:ahLst/>
            <a:cxnLst/>
            <a:rect r="r" b="b" t="t" l="l"/>
            <a:pathLst>
              <a:path h="2251072" w="2251072">
                <a:moveTo>
                  <a:pt x="0" y="0"/>
                </a:moveTo>
                <a:lnTo>
                  <a:pt x="2251072" y="0"/>
                </a:lnTo>
                <a:lnTo>
                  <a:pt x="2251072" y="2251073"/>
                </a:lnTo>
                <a:lnTo>
                  <a:pt x="0" y="2251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70805" y="2172578"/>
            <a:ext cx="582726" cy="582726"/>
          </a:xfrm>
          <a:custGeom>
            <a:avLst/>
            <a:gdLst/>
            <a:ahLst/>
            <a:cxnLst/>
            <a:rect r="r" b="b" t="t" l="l"/>
            <a:pathLst>
              <a:path h="582726" w="582726">
                <a:moveTo>
                  <a:pt x="0" y="0"/>
                </a:moveTo>
                <a:lnTo>
                  <a:pt x="582726" y="0"/>
                </a:lnTo>
                <a:lnTo>
                  <a:pt x="582726" y="582726"/>
                </a:lnTo>
                <a:lnTo>
                  <a:pt x="0" y="5827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53531" y="1380054"/>
            <a:ext cx="811538" cy="811538"/>
          </a:xfrm>
          <a:custGeom>
            <a:avLst/>
            <a:gdLst/>
            <a:ahLst/>
            <a:cxnLst/>
            <a:rect r="r" b="b" t="t" l="l"/>
            <a:pathLst>
              <a:path h="811538" w="811538">
                <a:moveTo>
                  <a:pt x="0" y="0"/>
                </a:moveTo>
                <a:lnTo>
                  <a:pt x="811538" y="0"/>
                </a:lnTo>
                <a:lnTo>
                  <a:pt x="811538" y="811538"/>
                </a:lnTo>
                <a:lnTo>
                  <a:pt x="0" y="811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00530" y="190276"/>
            <a:ext cx="2838389" cy="1434905"/>
          </a:xfrm>
          <a:custGeom>
            <a:avLst/>
            <a:gdLst/>
            <a:ahLst/>
            <a:cxnLst/>
            <a:rect r="r" b="b" t="t" l="l"/>
            <a:pathLst>
              <a:path h="1434905" w="2838389">
                <a:moveTo>
                  <a:pt x="0" y="0"/>
                </a:moveTo>
                <a:lnTo>
                  <a:pt x="2838390" y="0"/>
                </a:lnTo>
                <a:lnTo>
                  <a:pt x="2838390" y="1434905"/>
                </a:lnTo>
                <a:lnTo>
                  <a:pt x="0" y="1434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6557" y="228358"/>
            <a:ext cx="6722609" cy="932762"/>
          </a:xfrm>
          <a:custGeom>
            <a:avLst/>
            <a:gdLst/>
            <a:ahLst/>
            <a:cxnLst/>
            <a:rect r="r" b="b" t="t" l="l"/>
            <a:pathLst>
              <a:path h="932762" w="6722609">
                <a:moveTo>
                  <a:pt x="0" y="0"/>
                </a:moveTo>
                <a:lnTo>
                  <a:pt x="6722609" y="0"/>
                </a:lnTo>
                <a:lnTo>
                  <a:pt x="6722609" y="932762"/>
                </a:lnTo>
                <a:lnTo>
                  <a:pt x="0" y="9327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7946" y="2320927"/>
            <a:ext cx="7716054" cy="3549385"/>
          </a:xfrm>
          <a:custGeom>
            <a:avLst/>
            <a:gdLst/>
            <a:ahLst/>
            <a:cxnLst/>
            <a:rect r="r" b="b" t="t" l="l"/>
            <a:pathLst>
              <a:path h="3549385" w="7716054">
                <a:moveTo>
                  <a:pt x="0" y="0"/>
                </a:moveTo>
                <a:lnTo>
                  <a:pt x="7716054" y="0"/>
                </a:lnTo>
                <a:lnTo>
                  <a:pt x="7716054" y="3549385"/>
                </a:lnTo>
                <a:lnTo>
                  <a:pt x="0" y="35493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17338" y="2463941"/>
            <a:ext cx="7141962" cy="7016978"/>
          </a:xfrm>
          <a:custGeom>
            <a:avLst/>
            <a:gdLst/>
            <a:ahLst/>
            <a:cxnLst/>
            <a:rect r="r" b="b" t="t" l="l"/>
            <a:pathLst>
              <a:path h="7016978" w="7141962">
                <a:moveTo>
                  <a:pt x="0" y="0"/>
                </a:moveTo>
                <a:lnTo>
                  <a:pt x="7141962" y="0"/>
                </a:lnTo>
                <a:lnTo>
                  <a:pt x="7141962" y="7016978"/>
                </a:lnTo>
                <a:lnTo>
                  <a:pt x="0" y="70169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4936" y="6199341"/>
            <a:ext cx="7699064" cy="3474202"/>
          </a:xfrm>
          <a:custGeom>
            <a:avLst/>
            <a:gdLst/>
            <a:ahLst/>
            <a:cxnLst/>
            <a:rect r="r" b="b" t="t" l="l"/>
            <a:pathLst>
              <a:path h="3474202" w="7699064">
                <a:moveTo>
                  <a:pt x="0" y="0"/>
                </a:moveTo>
                <a:lnTo>
                  <a:pt x="7699064" y="0"/>
                </a:lnTo>
                <a:lnTo>
                  <a:pt x="7699064" y="3474203"/>
                </a:lnTo>
                <a:lnTo>
                  <a:pt x="0" y="34742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270319" y="1663281"/>
            <a:ext cx="1166424" cy="52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sz="377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PS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3217" y="5804155"/>
            <a:ext cx="2665512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LANIDNG PAGE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20204" y="9795244"/>
            <a:ext cx="2641029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LIVE HEATMAP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13777" y="9645905"/>
            <a:ext cx="356138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LAYOUT BUILDER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DAG4f7aJwPM</dc:identifier>
  <dcterms:modified xsi:type="dcterms:W3CDTF">2011-08-01T06:04:30Z</dcterms:modified>
  <cp:revision>1</cp:revision>
  <dc:title>Black and Pink Modern Minimal Pitch Deck Presentation</dc:title>
</cp:coreProperties>
</file>