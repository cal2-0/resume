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Archivo Black" charset="1" panose="020B0A03020202020B04"/>
      <p:regular r:id="rId14"/>
    </p:embeddedFont>
    <p:embeddedFont>
      <p:font typeface="Raleway Bold" charset="1" panose="00000000000000000000"/>
      <p:regular r:id="rId15"/>
    </p:embeddedFont>
    <p:embeddedFont>
      <p:font typeface="Raleway" charset="1" panose="0000000000000000000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1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492738" y="-2728863"/>
            <a:ext cx="12862454" cy="12862454"/>
          </a:xfrm>
          <a:custGeom>
            <a:avLst/>
            <a:gdLst/>
            <a:ahLst/>
            <a:cxnLst/>
            <a:rect r="r" b="b" t="t" l="l"/>
            <a:pathLst>
              <a:path h="12862454" w="12862454">
                <a:moveTo>
                  <a:pt x="0" y="0"/>
                </a:moveTo>
                <a:lnTo>
                  <a:pt x="12862454" y="0"/>
                </a:lnTo>
                <a:lnTo>
                  <a:pt x="12862454" y="12862454"/>
                </a:lnTo>
                <a:lnTo>
                  <a:pt x="0" y="128624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00353" y="6785316"/>
            <a:ext cx="12467373" cy="1591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820"/>
              </a:lnSpc>
            </a:pPr>
            <a:r>
              <a:rPr lang="en-US" sz="11820" spc="756">
                <a:solidFill>
                  <a:srgbClr val="FC6736"/>
                </a:solidFill>
                <a:latin typeface="Archivo Black"/>
                <a:ea typeface="Archivo Black"/>
                <a:cs typeface="Archivo Black"/>
                <a:sym typeface="Archivo Black"/>
              </a:rPr>
              <a:t>LUCENT.AI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12673" y="8141056"/>
            <a:ext cx="11192052" cy="4152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b="true" sz="2399" spc="463">
                <a:solidFill>
                  <a:srgbClr val="FC6736"/>
                </a:solidFill>
                <a:latin typeface="Raleway Bold"/>
                <a:ea typeface="Raleway Bold"/>
                <a:cs typeface="Raleway Bold"/>
                <a:sym typeface="Raleway Bold"/>
              </a:rPr>
              <a:t>R</a:t>
            </a:r>
            <a:r>
              <a:rPr lang="en-US" b="true" sz="2399" spc="463">
                <a:solidFill>
                  <a:srgbClr val="FC6736"/>
                </a:solidFill>
                <a:latin typeface="Raleway Bold"/>
                <a:ea typeface="Raleway Bold"/>
                <a:cs typeface="Raleway Bold"/>
                <a:sym typeface="Raleway Bold"/>
              </a:rPr>
              <a:t>EBUILDING TRUST IN A SYNTHETIC WORLD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102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977867" y="-1287727"/>
            <a:ext cx="12862454" cy="12862454"/>
          </a:xfrm>
          <a:custGeom>
            <a:avLst/>
            <a:gdLst/>
            <a:ahLst/>
            <a:cxnLst/>
            <a:rect r="r" b="b" t="t" l="l"/>
            <a:pathLst>
              <a:path h="12862454" w="12862454">
                <a:moveTo>
                  <a:pt x="0" y="0"/>
                </a:moveTo>
                <a:lnTo>
                  <a:pt x="12862453" y="0"/>
                </a:lnTo>
                <a:lnTo>
                  <a:pt x="12862453" y="12862454"/>
                </a:lnTo>
                <a:lnTo>
                  <a:pt x="0" y="128624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289063" y="2385210"/>
            <a:ext cx="6873090" cy="6873090"/>
          </a:xfrm>
          <a:custGeom>
            <a:avLst/>
            <a:gdLst/>
            <a:ahLst/>
            <a:cxnLst/>
            <a:rect r="r" b="b" t="t" l="l"/>
            <a:pathLst>
              <a:path h="6873090" w="6873090">
                <a:moveTo>
                  <a:pt x="0" y="0"/>
                </a:moveTo>
                <a:lnTo>
                  <a:pt x="6873090" y="0"/>
                </a:lnTo>
                <a:lnTo>
                  <a:pt x="6873090" y="6873090"/>
                </a:lnTo>
                <a:lnTo>
                  <a:pt x="0" y="687309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03126" y="600182"/>
            <a:ext cx="15610350" cy="40013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353"/>
              </a:lnSpc>
            </a:pPr>
            <a:r>
              <a:rPr lang="en-US" sz="10564" spc="676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P</a:t>
            </a:r>
            <a:r>
              <a:rPr lang="en-US" sz="10564" spc="676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ROBLEM STATEMENT</a:t>
            </a:r>
          </a:p>
          <a:p>
            <a:pPr algn="l">
              <a:lnSpc>
                <a:spcPts val="10353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303126" y="3618455"/>
            <a:ext cx="6915680" cy="458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8"/>
              </a:lnSpc>
            </a:pPr>
            <a:r>
              <a:rPr lang="en-US" sz="2592">
                <a:solidFill>
                  <a:srgbClr val="FC6736"/>
                </a:solidFill>
                <a:latin typeface="Archivo Black"/>
                <a:ea typeface="Archivo Black"/>
                <a:cs typeface="Archivo Black"/>
                <a:sym typeface="Archivo Black"/>
              </a:rPr>
              <a:t>THE DEATH OF DIGITAL TRUTH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7446" y="4009815"/>
            <a:ext cx="12437349" cy="6167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502" indent="-345251" lvl="1">
              <a:lnSpc>
                <a:spcPts val="4477"/>
              </a:lnSpc>
              <a:buFont typeface="Arial"/>
              <a:buChar char="•"/>
            </a:pPr>
            <a:r>
              <a:rPr lang="en-US" sz="3198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The Fakes are Too Perfect: Modern AI (like Sora or Midjourney) no longer makes obvious visual mistakes. Because the fakes look flawless, standard detection software is completely blind to them.</a:t>
            </a:r>
          </a:p>
          <a:p>
            <a:pPr algn="l" marL="690502" indent="-345251" lvl="1">
              <a:lnSpc>
                <a:spcPts val="4477"/>
              </a:lnSpc>
              <a:buFont typeface="Arial"/>
              <a:buChar char="•"/>
            </a:pPr>
            <a:r>
              <a:rPr lang="en-US" sz="3198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The $40 Billion Fraud Crisis: Scammers are using deepfakes to impersonate executives and trick banks, turning a social media nuisance into a massive corporate financial threat.</a:t>
            </a:r>
          </a:p>
          <a:p>
            <a:pPr algn="l" marL="690502" indent="-345251" lvl="1">
              <a:lnSpc>
                <a:spcPts val="4477"/>
              </a:lnSpc>
              <a:buFont typeface="Arial"/>
              <a:buChar char="•"/>
            </a:pPr>
            <a:r>
              <a:rPr lang="en-US" sz="3198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The "Liar's Free Pass": Because fakes are so realistic, criminals or corrupt figures caught on actual video can now simply lie and claim, "That isn't me, it's an AI deepfake."</a:t>
            </a:r>
          </a:p>
          <a:p>
            <a:pPr algn="l">
              <a:lnSpc>
                <a:spcPts val="4477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1788733" y="1750500"/>
            <a:ext cx="5873750" cy="355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74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THE ZERO-DAY DEEPFAKE CRISIS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856773" y="0"/>
            <a:ext cx="12862454" cy="12862454"/>
          </a:xfrm>
          <a:custGeom>
            <a:avLst/>
            <a:gdLst/>
            <a:ahLst/>
            <a:cxnLst/>
            <a:rect r="r" b="b" t="t" l="l"/>
            <a:pathLst>
              <a:path h="12862454" w="12862454">
                <a:moveTo>
                  <a:pt x="0" y="0"/>
                </a:moveTo>
                <a:lnTo>
                  <a:pt x="12862454" y="0"/>
                </a:lnTo>
                <a:lnTo>
                  <a:pt x="12862454" y="12862454"/>
                </a:lnTo>
                <a:lnTo>
                  <a:pt x="0" y="128624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14720" y="585787"/>
            <a:ext cx="13407798" cy="26372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838"/>
              </a:lnSpc>
            </a:pPr>
            <a:r>
              <a:rPr lang="en-US" sz="11998" spc="-803">
                <a:solidFill>
                  <a:srgbClr val="DBDBDB"/>
                </a:solidFill>
                <a:latin typeface="Archivo Black"/>
                <a:ea typeface="Archivo Black"/>
                <a:cs typeface="Archivo Black"/>
                <a:sym typeface="Archivo Black"/>
              </a:rPr>
              <a:t>THE SOLUTION </a:t>
            </a:r>
          </a:p>
          <a:p>
            <a:pPr algn="l">
              <a:lnSpc>
                <a:spcPts val="9838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2412738" y="1941181"/>
            <a:ext cx="6731262" cy="6055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48"/>
              </a:lnSpc>
            </a:pPr>
            <a:r>
              <a:rPr lang="en-US" sz="3534">
                <a:solidFill>
                  <a:srgbClr val="DBDBDB"/>
                </a:solidFill>
                <a:latin typeface="Archivo Black"/>
                <a:ea typeface="Archivo Black"/>
                <a:cs typeface="Archivo Black"/>
                <a:sym typeface="Archivo Black"/>
              </a:rPr>
              <a:t>LUCENT: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21511" y="3852706"/>
            <a:ext cx="6017482" cy="355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74"/>
              </a:lnSpc>
            </a:pPr>
            <a:r>
              <a:rPr lang="en-US" sz="2499">
                <a:solidFill>
                  <a:srgbClr val="FC6736"/>
                </a:solidFill>
                <a:latin typeface="Archivo Black"/>
                <a:ea typeface="Archivo Black"/>
                <a:cs typeface="Archivo Black"/>
                <a:sym typeface="Archivo Black"/>
              </a:rPr>
              <a:t>THE PRODUCTS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21511" y="6902719"/>
            <a:ext cx="4794950" cy="355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74"/>
              </a:lnSpc>
            </a:pPr>
            <a:r>
              <a:rPr lang="en-US" sz="2499">
                <a:solidFill>
                  <a:srgbClr val="FC6736"/>
                </a:solidFill>
                <a:latin typeface="Archivo Black"/>
                <a:ea typeface="Archivo Black"/>
                <a:cs typeface="Archivo Black"/>
                <a:sym typeface="Archivo Black"/>
              </a:rPr>
              <a:t>THE MAGIC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21511" y="2023864"/>
            <a:ext cx="16925178" cy="1199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03"/>
              </a:lnSpc>
              <a:spcBef>
                <a:spcPct val="0"/>
              </a:spcBef>
            </a:pPr>
            <a:r>
              <a:rPr lang="en-US" sz="2288">
                <a:solidFill>
                  <a:srgbClr val="DBDBDB"/>
                </a:solidFill>
                <a:latin typeface="Raleway"/>
                <a:ea typeface="Raleway"/>
                <a:cs typeface="Raleway"/>
                <a:sym typeface="Raleway"/>
              </a:rPr>
              <a:t>                                                         A multi-layered AI forensic platform that cross-references visual, physical, and temporal signals to expose deepfakes. It goes beyond simple "Real/Fake" labels by generating a 5-point forensic audit that stands up in legal and professional investigations.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80851" y="4310191"/>
            <a:ext cx="14303329" cy="23163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72496" indent="-286248" lvl="1">
              <a:lnSpc>
                <a:spcPts val="3712"/>
              </a:lnSpc>
              <a:buFont typeface="Arial"/>
              <a:buChar char="•"/>
            </a:pPr>
            <a:r>
              <a:rPr lang="en-US" sz="2651">
                <a:solidFill>
                  <a:srgbClr val="DBDBDB"/>
                </a:solidFill>
                <a:latin typeface="Raleway"/>
                <a:ea typeface="Raleway"/>
                <a:cs typeface="Raleway"/>
                <a:sym typeface="Raleway"/>
              </a:rPr>
              <a:t>The Enterprise Dashboard: A high-fidelity web platform for banks and newsrooms to run deep forensic audits, generating court-admissible PDF reports.</a:t>
            </a:r>
          </a:p>
          <a:p>
            <a:pPr algn="l" marL="572496" indent="-286248" lvl="1">
              <a:lnSpc>
                <a:spcPts val="3712"/>
              </a:lnSpc>
              <a:buFont typeface="Arial"/>
              <a:buChar char="•"/>
            </a:pPr>
            <a:r>
              <a:rPr lang="en-US" sz="2651">
                <a:solidFill>
                  <a:srgbClr val="DBDBDB"/>
                </a:solidFill>
                <a:latin typeface="Raleway"/>
                <a:ea typeface="Raleway"/>
                <a:cs typeface="Raleway"/>
                <a:sym typeface="Raleway"/>
              </a:rPr>
              <a:t>The Browser Guard: A lightweight, real-time extension that acts as a live shield over Zoom, Teams, and social media, instantly flagging synthetic media.</a:t>
            </a:r>
          </a:p>
          <a:p>
            <a:pPr algn="l">
              <a:lnSpc>
                <a:spcPts val="3712"/>
              </a:lnSpc>
              <a:spcBef>
                <a:spcPct val="0"/>
              </a:spcBef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7448819"/>
            <a:ext cx="14596695" cy="2193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7"/>
              </a:lnSpc>
              <a:spcBef>
                <a:spcPct val="0"/>
              </a:spcBef>
            </a:pPr>
            <a:r>
              <a:rPr lang="en-US" sz="2512">
                <a:solidFill>
                  <a:srgbClr val="DBDBDB"/>
                </a:solidFill>
                <a:latin typeface="Raleway"/>
                <a:ea typeface="Raleway"/>
                <a:cs typeface="Raleway"/>
                <a:sym typeface="Raleway"/>
              </a:rPr>
              <a:t>The Fusion Engine: Older tools look for visual mistakes; we look for mathematical truth. </a:t>
            </a:r>
            <a:r>
              <a:rPr lang="en-US" b="true" sz="2512">
                <a:solidFill>
                  <a:srgbClr val="DBDBDB"/>
                </a:solidFill>
                <a:latin typeface="Raleway Bold"/>
                <a:ea typeface="Raleway Bold"/>
                <a:cs typeface="Raleway Bold"/>
                <a:sym typeface="Raleway Bold"/>
              </a:rPr>
              <a:t>LUCENT </a:t>
            </a:r>
            <a:r>
              <a:rPr lang="en-US" sz="2512">
                <a:solidFill>
                  <a:srgbClr val="DBDBDB"/>
                </a:solidFill>
                <a:latin typeface="Raleway"/>
                <a:ea typeface="Raleway"/>
                <a:cs typeface="Raleway"/>
                <a:sym typeface="Raleway"/>
              </a:rPr>
              <a:t>uses an ensemble of Dockerized AI microservices to analyze a file from multiple isolated angles simultaneously. By cross-referencing hidden physical geometry, human biological signals (rPPG), and the file's generative DNA (DIRE), we eliminate the single point of failure. It doesn't just output a "Real or Fake" label—it generates an irrefutable cryptographic audit.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F2EB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53186" y="128089"/>
            <a:ext cx="4683936" cy="4663910"/>
            <a:chOff x="0" y="0"/>
            <a:chExt cx="977039" cy="97286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77039" cy="972861"/>
            </a:xfrm>
            <a:custGeom>
              <a:avLst/>
              <a:gdLst/>
              <a:ahLst/>
              <a:cxnLst/>
              <a:rect r="r" b="b" t="t" l="l"/>
              <a:pathLst>
                <a:path h="972861" w="977039">
                  <a:moveTo>
                    <a:pt x="0" y="0"/>
                  </a:moveTo>
                  <a:lnTo>
                    <a:pt x="977039" y="0"/>
                  </a:lnTo>
                  <a:lnTo>
                    <a:pt x="977039" y="972861"/>
                  </a:lnTo>
                  <a:lnTo>
                    <a:pt x="0" y="972861"/>
                  </a:lnTo>
                  <a:close/>
                </a:path>
              </a:pathLst>
            </a:custGeom>
            <a:solidFill>
              <a:srgbClr val="E3DCD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19050"/>
              <a:ext cx="977039" cy="9538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74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608651" y="211756"/>
            <a:ext cx="4683936" cy="4663910"/>
            <a:chOff x="0" y="0"/>
            <a:chExt cx="977039" cy="97286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77039" cy="972861"/>
            </a:xfrm>
            <a:custGeom>
              <a:avLst/>
              <a:gdLst/>
              <a:ahLst/>
              <a:cxnLst/>
              <a:rect r="r" b="b" t="t" l="l"/>
              <a:pathLst>
                <a:path h="972861" w="977039">
                  <a:moveTo>
                    <a:pt x="0" y="0"/>
                  </a:moveTo>
                  <a:lnTo>
                    <a:pt x="977039" y="0"/>
                  </a:lnTo>
                  <a:lnTo>
                    <a:pt x="977039" y="972861"/>
                  </a:lnTo>
                  <a:lnTo>
                    <a:pt x="0" y="972861"/>
                  </a:lnTo>
                  <a:close/>
                </a:path>
              </a:pathLst>
            </a:custGeom>
            <a:solidFill>
              <a:srgbClr val="1C1C1C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19050"/>
              <a:ext cx="977039" cy="9538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74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9954792" y="297481"/>
            <a:ext cx="8631420" cy="988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81"/>
              </a:lnSpc>
            </a:pPr>
            <a:r>
              <a:rPr lang="en-US" sz="3938">
                <a:solidFill>
                  <a:srgbClr val="363636"/>
                </a:solidFill>
                <a:latin typeface="Archivo Black"/>
                <a:ea typeface="Archivo Black"/>
                <a:cs typeface="Archivo Black"/>
                <a:sym typeface="Archivo Black"/>
              </a:rPr>
              <a:t>THE ANATOMY OF TR</a:t>
            </a:r>
            <a:r>
              <a:rPr lang="en-US" sz="3938">
                <a:solidFill>
                  <a:srgbClr val="363636"/>
                </a:solidFill>
                <a:latin typeface="Archivo Black"/>
                <a:ea typeface="Archivo Black"/>
                <a:cs typeface="Archivo Black"/>
                <a:sym typeface="Archivo Black"/>
              </a:rPr>
              <a:t>UTH (THE 5-PILLAR MATRIX)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10166" y="293063"/>
            <a:ext cx="4169975" cy="9926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04"/>
              </a:lnSpc>
            </a:pPr>
            <a:r>
              <a:rPr lang="en-US" sz="2433">
                <a:solidFill>
                  <a:srgbClr val="363636"/>
                </a:solidFill>
                <a:latin typeface="Archivo Black"/>
                <a:ea typeface="Archivo Black"/>
                <a:cs typeface="Archivo Black"/>
                <a:sym typeface="Archivo Black"/>
              </a:rPr>
              <a:t>1.THE FIRST PASS (PRE-TRAINED VISUAL MODELS)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10166" y="1377375"/>
            <a:ext cx="4335632" cy="35462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95938" indent="-197969" lvl="1">
              <a:lnSpc>
                <a:spcPts val="2567"/>
              </a:lnSpc>
              <a:buFont typeface="Arial"/>
              <a:buChar char="•"/>
            </a:pPr>
            <a:r>
              <a:rPr lang="en-US" sz="1833">
                <a:solidFill>
                  <a:srgbClr val="363636"/>
                </a:solidFill>
                <a:latin typeface="Raleway"/>
                <a:ea typeface="Raleway"/>
                <a:cs typeface="Raleway"/>
                <a:sym typeface="Raleway"/>
              </a:rPr>
              <a:t>What it is: A lightweight, off-the-shelf AI model (like a small Vision Transformer).</a:t>
            </a:r>
          </a:p>
          <a:p>
            <a:pPr algn="l" marL="395938" indent="-197969" lvl="1">
              <a:lnSpc>
                <a:spcPts val="2567"/>
              </a:lnSpc>
              <a:buFont typeface="Arial"/>
              <a:buChar char="•"/>
            </a:pPr>
            <a:r>
              <a:rPr lang="en-US" sz="1833">
                <a:solidFill>
                  <a:srgbClr val="363636"/>
                </a:solidFill>
                <a:latin typeface="Raleway"/>
                <a:ea typeface="Raleway"/>
                <a:cs typeface="Raleway"/>
                <a:sym typeface="Raleway"/>
              </a:rPr>
              <a:t>The Purpose: Instantly scans for obvious visual mistakes (blurry edges, weird lighting).</a:t>
            </a:r>
          </a:p>
          <a:p>
            <a:pPr algn="l" marL="395938" indent="-197969" lvl="1">
              <a:lnSpc>
                <a:spcPts val="2567"/>
              </a:lnSpc>
              <a:buFont typeface="Arial"/>
              <a:buChar char="•"/>
            </a:pPr>
            <a:r>
              <a:rPr lang="en-US" sz="1833">
                <a:solidFill>
                  <a:srgbClr val="363636"/>
                </a:solidFill>
                <a:latin typeface="Raleway"/>
                <a:ea typeface="Raleway"/>
                <a:cs typeface="Raleway"/>
                <a:sym typeface="Raleway"/>
              </a:rPr>
              <a:t>Why It acts as a bouncer. It catches 80% of cheap, low-effort fakes instantly, saving our massive GPU power for the dangerous stuff.</a:t>
            </a:r>
          </a:p>
          <a:p>
            <a:pPr algn="l">
              <a:lnSpc>
                <a:spcPts val="2567"/>
              </a:lnSpc>
              <a:spcBef>
                <a:spcPct val="0"/>
              </a:spcBef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5862815" y="344005"/>
            <a:ext cx="3685747" cy="6688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04"/>
              </a:lnSpc>
            </a:pPr>
            <a:r>
              <a:rPr lang="en-US" sz="2433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2.DIRE (REVERSE-ENGINEERING)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862815" y="1238122"/>
            <a:ext cx="3935209" cy="37704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7528" indent="-208764" lvl="1">
              <a:lnSpc>
                <a:spcPts val="2707"/>
              </a:lnSpc>
              <a:buFont typeface="Arial"/>
              <a:buChar char="•"/>
            </a:pPr>
            <a:r>
              <a:rPr lang="en-US" sz="1933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What it is: We turn the AI against itself.</a:t>
            </a:r>
          </a:p>
          <a:p>
            <a:pPr algn="l" marL="417528" indent="-208764" lvl="1">
              <a:lnSpc>
                <a:spcPts val="2707"/>
              </a:lnSpc>
              <a:buFont typeface="Arial"/>
              <a:buChar char="•"/>
            </a:pPr>
            <a:r>
              <a:rPr lang="en-US" sz="1933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The Purpose: We destroy the image with static noise, then ask an AI to rebuild it.</a:t>
            </a:r>
          </a:p>
          <a:p>
            <a:pPr algn="l" marL="417528" indent="-208764" lvl="1">
              <a:lnSpc>
                <a:spcPts val="2707"/>
              </a:lnSpc>
              <a:buFont typeface="Arial"/>
              <a:buChar char="•"/>
            </a:pPr>
            <a:r>
              <a:rPr lang="en-US" sz="1933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Why it works: An AI perfectly rebuilds its own generated art. Real-world photos get messed up in the reconstruction.</a:t>
            </a:r>
          </a:p>
          <a:p>
            <a:pPr algn="l">
              <a:lnSpc>
                <a:spcPts val="2707"/>
              </a:lnSpc>
              <a:spcBef>
                <a:spcPct val="0"/>
              </a:spcBef>
            </a:pPr>
          </a:p>
        </p:txBody>
      </p:sp>
      <p:grpSp>
        <p:nvGrpSpPr>
          <p:cNvPr name="Group 13" id="13"/>
          <p:cNvGrpSpPr/>
          <p:nvPr/>
        </p:nvGrpSpPr>
        <p:grpSpPr>
          <a:xfrm rot="0">
            <a:off x="353186" y="5163085"/>
            <a:ext cx="4683936" cy="4663910"/>
            <a:chOff x="0" y="0"/>
            <a:chExt cx="977039" cy="97286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77039" cy="972861"/>
            </a:xfrm>
            <a:custGeom>
              <a:avLst/>
              <a:gdLst/>
              <a:ahLst/>
              <a:cxnLst/>
              <a:rect r="r" b="b" t="t" l="l"/>
              <a:pathLst>
                <a:path h="972861" w="977039">
                  <a:moveTo>
                    <a:pt x="0" y="0"/>
                  </a:moveTo>
                  <a:lnTo>
                    <a:pt x="977039" y="0"/>
                  </a:lnTo>
                  <a:lnTo>
                    <a:pt x="977039" y="972861"/>
                  </a:lnTo>
                  <a:lnTo>
                    <a:pt x="0" y="972861"/>
                  </a:lnTo>
                  <a:close/>
                </a:path>
              </a:pathLst>
            </a:custGeom>
            <a:solidFill>
              <a:srgbClr val="E3DCD6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19050"/>
              <a:ext cx="977039" cy="9538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74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5608651" y="5246752"/>
            <a:ext cx="4683936" cy="4663910"/>
            <a:chOff x="0" y="0"/>
            <a:chExt cx="977039" cy="97286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77039" cy="972861"/>
            </a:xfrm>
            <a:custGeom>
              <a:avLst/>
              <a:gdLst/>
              <a:ahLst/>
              <a:cxnLst/>
              <a:rect r="r" b="b" t="t" l="l"/>
              <a:pathLst>
                <a:path h="972861" w="977039">
                  <a:moveTo>
                    <a:pt x="0" y="0"/>
                  </a:moveTo>
                  <a:lnTo>
                    <a:pt x="977039" y="0"/>
                  </a:lnTo>
                  <a:lnTo>
                    <a:pt x="977039" y="972861"/>
                  </a:lnTo>
                  <a:lnTo>
                    <a:pt x="0" y="972861"/>
                  </a:lnTo>
                  <a:close/>
                </a:path>
              </a:pathLst>
            </a:custGeom>
            <a:solidFill>
              <a:srgbClr val="1C1C1C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19050"/>
              <a:ext cx="977039" cy="9538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74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610166" y="5392121"/>
            <a:ext cx="4169975" cy="6688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04"/>
              </a:lnSpc>
            </a:pPr>
            <a:r>
              <a:rPr lang="en-US" sz="2433">
                <a:solidFill>
                  <a:srgbClr val="363636"/>
                </a:solidFill>
                <a:latin typeface="Archivo Black"/>
                <a:ea typeface="Archivo Black"/>
                <a:cs typeface="Archivo Black"/>
                <a:sym typeface="Archivo Black"/>
              </a:rPr>
              <a:t>3.FFT (FREQUENCY/FOURIER)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444509" y="6382395"/>
            <a:ext cx="4501289" cy="32230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95938" indent="-197969" lvl="1">
              <a:lnSpc>
                <a:spcPts val="2567"/>
              </a:lnSpc>
              <a:spcBef>
                <a:spcPct val="0"/>
              </a:spcBef>
              <a:buFont typeface="Arial"/>
              <a:buChar char="•"/>
            </a:pPr>
            <a:r>
              <a:rPr lang="en-US" sz="1833">
                <a:solidFill>
                  <a:srgbClr val="363636"/>
                </a:solidFill>
                <a:latin typeface="Raleway"/>
                <a:ea typeface="Raleway"/>
                <a:cs typeface="Raleway"/>
                <a:sym typeface="Raleway"/>
              </a:rPr>
              <a:t>What it is: We convert</a:t>
            </a:r>
            <a:r>
              <a:rPr lang="en-US" sz="1833">
                <a:solidFill>
                  <a:srgbClr val="363636"/>
                </a:solidFill>
                <a:latin typeface="Raleway"/>
                <a:ea typeface="Raleway"/>
                <a:cs typeface="Raleway"/>
                <a:sym typeface="Raleway"/>
              </a:rPr>
              <a:t> the image into a mathematical frequency map.</a:t>
            </a:r>
          </a:p>
          <a:p>
            <a:pPr algn="l" marL="395938" indent="-197969" lvl="1">
              <a:lnSpc>
                <a:spcPts val="2567"/>
              </a:lnSpc>
              <a:spcBef>
                <a:spcPct val="0"/>
              </a:spcBef>
              <a:buFont typeface="Arial"/>
              <a:buChar char="•"/>
            </a:pPr>
            <a:r>
              <a:rPr lang="en-US" sz="1833">
                <a:solidFill>
                  <a:srgbClr val="363636"/>
                </a:solidFill>
                <a:latin typeface="Raleway"/>
                <a:ea typeface="Raleway"/>
                <a:cs typeface="Raleway"/>
                <a:sym typeface="Raleway"/>
              </a:rPr>
              <a:t>The Purpose: To find the invisible rendering grid.</a:t>
            </a:r>
          </a:p>
          <a:p>
            <a:pPr algn="l" marL="395938" indent="-197969" lvl="1">
              <a:lnSpc>
                <a:spcPts val="2567"/>
              </a:lnSpc>
              <a:spcBef>
                <a:spcPct val="0"/>
              </a:spcBef>
              <a:buFont typeface="Arial"/>
              <a:buChar char="•"/>
            </a:pPr>
            <a:r>
              <a:rPr lang="en-US" sz="1833">
                <a:solidFill>
                  <a:srgbClr val="363636"/>
                </a:solidFill>
                <a:latin typeface="Raleway"/>
                <a:ea typeface="Raleway"/>
                <a:cs typeface="Raleway"/>
                <a:sym typeface="Raleway"/>
              </a:rPr>
              <a:t>Why it works: High-end AI models (like Midjourney) leave behind microscopic "checkerboard" patterns that human eyes can't see, but math can.</a:t>
            </a:r>
          </a:p>
          <a:p>
            <a:pPr algn="l">
              <a:lnSpc>
                <a:spcPts val="2567"/>
              </a:lnSpc>
              <a:spcBef>
                <a:spcPct val="0"/>
              </a:spcBef>
            </a:pPr>
          </a:p>
        </p:txBody>
      </p:sp>
      <p:sp>
        <p:nvSpPr>
          <p:cNvPr name="TextBox 21" id="21"/>
          <p:cNvSpPr txBox="true"/>
          <p:nvPr/>
        </p:nvSpPr>
        <p:spPr>
          <a:xfrm rot="0">
            <a:off x="5811439" y="5475436"/>
            <a:ext cx="4143352" cy="6688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04"/>
              </a:lnSpc>
            </a:pPr>
            <a:r>
              <a:rPr lang="en-US" sz="2433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4.PROVENANCE (THE DIGITAL DNA)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811439" y="6382395"/>
            <a:ext cx="4143352" cy="32230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95938" indent="-197969" lvl="1">
              <a:lnSpc>
                <a:spcPts val="2567"/>
              </a:lnSpc>
              <a:spcBef>
                <a:spcPct val="0"/>
              </a:spcBef>
              <a:buFont typeface="Arial"/>
              <a:buChar char="•"/>
            </a:pPr>
            <a:r>
              <a:rPr lang="en-US" sz="1833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What it is: A deep sc</a:t>
            </a:r>
            <a:r>
              <a:rPr lang="en-US" sz="1833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an of the file's hex code and sensor noise.</a:t>
            </a:r>
          </a:p>
          <a:p>
            <a:pPr algn="l" marL="395938" indent="-197969" lvl="1">
              <a:lnSpc>
                <a:spcPts val="2567"/>
              </a:lnSpc>
              <a:spcBef>
                <a:spcPct val="0"/>
              </a:spcBef>
              <a:buFont typeface="Arial"/>
              <a:buChar char="•"/>
            </a:pPr>
            <a:r>
              <a:rPr lang="en-US" sz="1833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The Purpose: Hunting for hidden watermarks (C2PA) or missing camera lens scratches.</a:t>
            </a:r>
          </a:p>
          <a:p>
            <a:pPr algn="l" marL="395938" indent="-197969" lvl="1">
              <a:lnSpc>
                <a:spcPts val="2567"/>
              </a:lnSpc>
              <a:spcBef>
                <a:spcPct val="0"/>
              </a:spcBef>
              <a:buFont typeface="Arial"/>
              <a:buChar char="•"/>
            </a:pPr>
            <a:r>
              <a:rPr lang="en-US" sz="1833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Why it works: If Adobe or OpenAI secretly stamped it, or if it lacks the chaotic noise of a physical camera lens, we flag it instantly.</a:t>
            </a:r>
          </a:p>
          <a:p>
            <a:pPr algn="l">
              <a:lnSpc>
                <a:spcPts val="2567"/>
              </a:lnSpc>
              <a:spcBef>
                <a:spcPct val="0"/>
              </a:spcBef>
            </a:pPr>
          </a:p>
        </p:txBody>
      </p:sp>
      <p:grpSp>
        <p:nvGrpSpPr>
          <p:cNvPr name="Group 23" id="23"/>
          <p:cNvGrpSpPr/>
          <p:nvPr/>
        </p:nvGrpSpPr>
        <p:grpSpPr>
          <a:xfrm rot="0">
            <a:off x="10729109" y="1540284"/>
            <a:ext cx="6795680" cy="8236812"/>
            <a:chOff x="0" y="0"/>
            <a:chExt cx="977039" cy="1184235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977039" cy="1184235"/>
            </a:xfrm>
            <a:custGeom>
              <a:avLst/>
              <a:gdLst/>
              <a:ahLst/>
              <a:cxnLst/>
              <a:rect r="r" b="b" t="t" l="l"/>
              <a:pathLst>
                <a:path h="1184235" w="977039">
                  <a:moveTo>
                    <a:pt x="0" y="0"/>
                  </a:moveTo>
                  <a:lnTo>
                    <a:pt x="977039" y="0"/>
                  </a:lnTo>
                  <a:lnTo>
                    <a:pt x="977039" y="1184235"/>
                  </a:lnTo>
                  <a:lnTo>
                    <a:pt x="0" y="1184235"/>
                  </a:lnTo>
                  <a:close/>
                </a:path>
              </a:pathLst>
            </a:custGeom>
            <a:solidFill>
              <a:srgbClr val="39332F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19050"/>
              <a:ext cx="977039" cy="11651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74"/>
                </a:lnSpc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10959337" y="1751137"/>
            <a:ext cx="6011376" cy="969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3531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THE FINAL VERDICT (THE META-JUDGE)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0864087" y="2795173"/>
            <a:ext cx="6395213" cy="70318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74446" indent="-287223" lvl="1">
              <a:lnSpc>
                <a:spcPts val="3724"/>
              </a:lnSpc>
              <a:buFont typeface="Arial"/>
              <a:buChar char="•"/>
            </a:pPr>
            <a:r>
              <a:rPr lang="en-US" sz="266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What it is: A lightweight AI trained specifically to be the "Judge" in the courtroom.</a:t>
            </a:r>
          </a:p>
          <a:p>
            <a:pPr algn="l" marL="574446" indent="-287223" lvl="1">
              <a:lnSpc>
                <a:spcPts val="3724"/>
              </a:lnSpc>
              <a:buFont typeface="Arial"/>
              <a:buChar char="•"/>
            </a:pPr>
            <a:r>
              <a:rPr lang="en-US" sz="266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The Purpose: It doesn't analyze the image; it analyzes the 5 scores from the experts above.</a:t>
            </a:r>
          </a:p>
          <a:p>
            <a:pPr algn="l" marL="574446" indent="-287223" lvl="1">
              <a:lnSpc>
                <a:spcPts val="3724"/>
              </a:lnSpc>
              <a:buFont typeface="Arial"/>
              <a:buChar char="•"/>
            </a:pPr>
            <a:r>
              <a:rPr lang="en-US" sz="266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How it decides (The Secret): It doesn't just average the numbers. It assigns weighted trust.</a:t>
            </a:r>
          </a:p>
          <a:p>
            <a:pPr algn="l" marL="574446" indent="-287223" lvl="1">
              <a:lnSpc>
                <a:spcPts val="3724"/>
              </a:lnSpc>
              <a:buFont typeface="Arial"/>
              <a:buChar char="•"/>
            </a:pPr>
            <a:r>
              <a:rPr lang="en-US" sz="266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 If the visual scan is unsure (50%), but the DIRE math says it's 99% fake, the Judge is trained to know that math doesn't lie. It overrules the visual scan and instantly flags the fraud.</a:t>
            </a:r>
          </a:p>
          <a:p>
            <a:pPr algn="l">
              <a:lnSpc>
                <a:spcPts val="3724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3573883"/>
            <a:ext cx="18288000" cy="6713117"/>
            <a:chOff x="0" y="0"/>
            <a:chExt cx="4816593" cy="176806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1768064"/>
            </a:xfrm>
            <a:custGeom>
              <a:avLst/>
              <a:gdLst/>
              <a:ahLst/>
              <a:cxnLst/>
              <a:rect r="r" b="b" t="t" l="l"/>
              <a:pathLst>
                <a:path h="1768064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768064"/>
                  </a:lnTo>
                  <a:lnTo>
                    <a:pt x="0" y="1768064"/>
                  </a:lnTo>
                  <a:close/>
                </a:path>
              </a:pathLst>
            </a:custGeom>
            <a:solidFill>
              <a:srgbClr val="FC673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19050"/>
              <a:ext cx="4816593" cy="17490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74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421591" y="250376"/>
            <a:ext cx="11501582" cy="2350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94"/>
              </a:lnSpc>
              <a:spcBef>
                <a:spcPct val="0"/>
              </a:spcBef>
            </a:pPr>
            <a:r>
              <a:rPr lang="en-US" sz="8499">
                <a:solidFill>
                  <a:srgbClr val="FEFEFE"/>
                </a:solidFill>
                <a:latin typeface="Archivo Black"/>
                <a:ea typeface="Archivo Black"/>
                <a:cs typeface="Archivo Black"/>
                <a:sym typeface="Archivo Black"/>
              </a:rPr>
              <a:t>THE I</a:t>
            </a:r>
            <a:r>
              <a:rPr lang="en-US" sz="8499">
                <a:solidFill>
                  <a:srgbClr val="FEFEFE"/>
                </a:solidFill>
                <a:latin typeface="Archivo Black"/>
                <a:ea typeface="Archivo Black"/>
                <a:cs typeface="Archivo Black"/>
                <a:sym typeface="Archivo Black"/>
              </a:rPr>
              <a:t>NFRASTRUCTURE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36830" y="2619853"/>
            <a:ext cx="8307170" cy="43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FEFEFE"/>
                </a:solidFill>
                <a:latin typeface="Archivo Black"/>
                <a:ea typeface="Archivo Black"/>
                <a:cs typeface="Archivo Black"/>
                <a:sym typeface="Archivo Black"/>
              </a:rPr>
              <a:t>SCALABLE FORENSIC INFRASTRUCTURE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-826071" y="3469108"/>
            <a:ext cx="9657740" cy="8581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36"/>
              </a:lnSpc>
            </a:pPr>
            <a:r>
              <a:rPr lang="en-US" sz="4954">
                <a:solidFill>
                  <a:srgbClr val="363636"/>
                </a:solidFill>
                <a:latin typeface="Archivo Black"/>
                <a:ea typeface="Archivo Black"/>
                <a:cs typeface="Archivo Black"/>
                <a:sym typeface="Archivo Black"/>
              </a:rPr>
              <a:t>The AI &amp; Vision Core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3192" y="4305720"/>
            <a:ext cx="8768478" cy="2762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45446" indent="-222723" lvl="1">
              <a:lnSpc>
                <a:spcPts val="2207"/>
              </a:lnSpc>
              <a:buFont typeface="Arial"/>
              <a:buChar char="•"/>
            </a:pPr>
            <a:r>
              <a:rPr lang="en-US" sz="2063">
                <a:solidFill>
                  <a:srgbClr val="363636"/>
                </a:solidFill>
                <a:latin typeface="Archivo Black"/>
                <a:ea typeface="Archivo Black"/>
                <a:cs typeface="Archivo Black"/>
                <a:sym typeface="Archivo Black"/>
              </a:rPr>
              <a:t>TECH: PYTORCH + OPENCV + HUGGINGFACE DIFFUSERS.</a:t>
            </a:r>
          </a:p>
          <a:p>
            <a:pPr algn="l" marL="445446" indent="-222723" lvl="1">
              <a:lnSpc>
                <a:spcPts val="2207"/>
              </a:lnSpc>
              <a:buFont typeface="Arial"/>
              <a:buChar char="•"/>
            </a:pPr>
            <a:r>
              <a:rPr lang="en-US" sz="2063">
                <a:solidFill>
                  <a:srgbClr val="363636"/>
                </a:solidFill>
                <a:latin typeface="Archivo Black"/>
                <a:ea typeface="Archivo Black"/>
                <a:cs typeface="Archivo Black"/>
                <a:sym typeface="Archivo Black"/>
              </a:rPr>
              <a:t>The Build: High-throughput tensor math (PyTorch) fused with pixel-perfect frame extraction (OpenCV).</a:t>
            </a:r>
          </a:p>
          <a:p>
            <a:pPr algn="l" marL="445446" indent="-222723" lvl="1">
              <a:lnSpc>
                <a:spcPts val="2207"/>
              </a:lnSpc>
              <a:buFont typeface="Arial"/>
              <a:buChar char="•"/>
            </a:pPr>
            <a:r>
              <a:rPr lang="en-US" sz="2063">
                <a:solidFill>
                  <a:srgbClr val="363636"/>
                </a:solidFill>
                <a:latin typeface="Archivo Black"/>
                <a:ea typeface="Archivo Black"/>
                <a:cs typeface="Archivo Black"/>
                <a:sym typeface="Archivo Black"/>
              </a:rPr>
              <a:t>The Flex: We don't rely on basic APIs. We run custom Vision Transformers and reverse-diffusion pipelines locally on dedicated GPU clusters.</a:t>
            </a:r>
          </a:p>
          <a:p>
            <a:pPr algn="l">
              <a:lnSpc>
                <a:spcPts val="2207"/>
              </a:lnSpc>
            </a:pP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4445654" y="145299"/>
            <a:ext cx="3296579" cy="3296579"/>
          </a:xfrm>
          <a:custGeom>
            <a:avLst/>
            <a:gdLst/>
            <a:ahLst/>
            <a:cxnLst/>
            <a:rect r="r" b="b" t="t" l="l"/>
            <a:pathLst>
              <a:path h="3296579" w="3296579">
                <a:moveTo>
                  <a:pt x="0" y="0"/>
                </a:moveTo>
                <a:lnTo>
                  <a:pt x="3296579" y="0"/>
                </a:lnTo>
                <a:lnTo>
                  <a:pt x="3296579" y="3296579"/>
                </a:lnTo>
                <a:lnTo>
                  <a:pt x="0" y="32965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3923423" y="333357"/>
            <a:ext cx="1044461" cy="1044461"/>
          </a:xfrm>
          <a:custGeom>
            <a:avLst/>
            <a:gdLst/>
            <a:ahLst/>
            <a:cxnLst/>
            <a:rect r="r" b="b" t="t" l="l"/>
            <a:pathLst>
              <a:path h="1044461" w="1044461">
                <a:moveTo>
                  <a:pt x="0" y="0"/>
                </a:moveTo>
                <a:lnTo>
                  <a:pt x="1044462" y="0"/>
                </a:lnTo>
                <a:lnTo>
                  <a:pt x="1044462" y="1044461"/>
                </a:lnTo>
                <a:lnTo>
                  <a:pt x="0" y="104446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6970621" y="2529422"/>
            <a:ext cx="1044461" cy="1044461"/>
          </a:xfrm>
          <a:custGeom>
            <a:avLst/>
            <a:gdLst/>
            <a:ahLst/>
            <a:cxnLst/>
            <a:rect r="r" b="b" t="t" l="l"/>
            <a:pathLst>
              <a:path h="1044461" w="1044461">
                <a:moveTo>
                  <a:pt x="0" y="0"/>
                </a:moveTo>
                <a:lnTo>
                  <a:pt x="1044461" y="0"/>
                </a:lnTo>
                <a:lnTo>
                  <a:pt x="1044461" y="1044461"/>
                </a:lnTo>
                <a:lnTo>
                  <a:pt x="0" y="104446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-664176" y="6825667"/>
            <a:ext cx="9657740" cy="8581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36"/>
              </a:lnSpc>
            </a:pPr>
            <a:r>
              <a:rPr lang="en-US" sz="4954">
                <a:solidFill>
                  <a:srgbClr val="363636"/>
                </a:solidFill>
                <a:latin typeface="Archivo Black"/>
                <a:ea typeface="Archivo Black"/>
                <a:cs typeface="Archivo Black"/>
                <a:sym typeface="Archivo Black"/>
              </a:rPr>
              <a:t>Orchestration &amp; Speed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0" y="7936985"/>
            <a:ext cx="8969888" cy="2212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45446" indent="-222723" lvl="1">
              <a:lnSpc>
                <a:spcPts val="2207"/>
              </a:lnSpc>
              <a:buFont typeface="Arial"/>
              <a:buChar char="•"/>
            </a:pPr>
            <a:r>
              <a:rPr lang="en-US" sz="2063">
                <a:solidFill>
                  <a:srgbClr val="363636"/>
                </a:solidFill>
                <a:latin typeface="Archivo Black"/>
                <a:ea typeface="Archivo Black"/>
                <a:cs typeface="Archivo Black"/>
                <a:sym typeface="Archivo Black"/>
              </a:rPr>
              <a:t>TECH: FASTAPI + REDIS TASK QUEUES.</a:t>
            </a:r>
          </a:p>
          <a:p>
            <a:pPr algn="l" marL="445446" indent="-222723" lvl="1">
              <a:lnSpc>
                <a:spcPts val="2207"/>
              </a:lnSpc>
              <a:buFont typeface="Arial"/>
              <a:buChar char="•"/>
            </a:pPr>
            <a:r>
              <a:rPr lang="en-US" sz="2063">
                <a:solidFill>
                  <a:srgbClr val="363636"/>
                </a:solidFill>
                <a:latin typeface="Archivo Black"/>
                <a:ea typeface="Archivo Black"/>
                <a:cs typeface="Archivo Black"/>
                <a:sym typeface="Archivo Black"/>
              </a:rPr>
              <a:t>The Build: LUCENT is entirely asynchronous.</a:t>
            </a:r>
          </a:p>
          <a:p>
            <a:pPr algn="l" marL="445446" indent="-222723" lvl="1">
              <a:lnSpc>
                <a:spcPts val="2207"/>
              </a:lnSpc>
              <a:buFont typeface="Arial"/>
              <a:buChar char="•"/>
            </a:pPr>
            <a:r>
              <a:rPr lang="en-US" sz="2063">
                <a:solidFill>
                  <a:srgbClr val="363636"/>
                </a:solidFill>
                <a:latin typeface="Archivo Black"/>
                <a:ea typeface="Archivo Black"/>
                <a:cs typeface="Archivo Black"/>
                <a:sym typeface="Archivo Black"/>
              </a:rPr>
              <a:t>The Flex: When a video is uploaded, Redis chunks the frames and FastAPI routes them to all 5 forensic branches simultaneously. We deliver sub-second analysis without freezing the browser.</a:t>
            </a:r>
          </a:p>
          <a:p>
            <a:pPr algn="l">
              <a:lnSpc>
                <a:spcPts val="2207"/>
              </a:lnSpc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8630260" y="3469108"/>
            <a:ext cx="9657740" cy="8581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36"/>
              </a:lnSpc>
            </a:pPr>
            <a:r>
              <a:rPr lang="en-US" sz="4954">
                <a:solidFill>
                  <a:srgbClr val="363636"/>
                </a:solidFill>
                <a:latin typeface="Archivo Black"/>
                <a:ea typeface="Archivo Black"/>
                <a:cs typeface="Archivo Black"/>
                <a:sym typeface="Archivo Black"/>
              </a:rPr>
              <a:t>The Data Foundation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831670" y="4305720"/>
            <a:ext cx="9456330" cy="2762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45446" indent="-222723" lvl="1">
              <a:lnSpc>
                <a:spcPts val="2207"/>
              </a:lnSpc>
              <a:buFont typeface="Arial"/>
              <a:buChar char="•"/>
            </a:pPr>
            <a:r>
              <a:rPr lang="en-US" sz="2063">
                <a:solidFill>
                  <a:srgbClr val="363636"/>
                </a:solidFill>
                <a:latin typeface="Archivo Black"/>
                <a:ea typeface="Archivo Black"/>
                <a:cs typeface="Archivo Black"/>
                <a:sym typeface="Archivo Black"/>
              </a:rPr>
              <a:t>DATASETS: FACEFORENSICS++, GENIMAGE, &amp; WILDDEEPFAKE.</a:t>
            </a:r>
          </a:p>
          <a:p>
            <a:pPr algn="l" marL="445446" indent="-222723" lvl="1">
              <a:lnSpc>
                <a:spcPts val="2207"/>
              </a:lnSpc>
              <a:buFont typeface="Arial"/>
              <a:buChar char="•"/>
            </a:pPr>
            <a:r>
              <a:rPr lang="en-US" sz="2063">
                <a:solidFill>
                  <a:srgbClr val="363636"/>
                </a:solidFill>
                <a:latin typeface="Archivo Black"/>
                <a:ea typeface="Archivo Black"/>
                <a:cs typeface="Archivo Black"/>
                <a:sym typeface="Archivo Black"/>
              </a:rPr>
              <a:t>The Build: We don't just train on sterile lab data. We inject heavily compressed, real-world social media fakes.</a:t>
            </a:r>
          </a:p>
          <a:p>
            <a:pPr algn="l" marL="445446" indent="-222723" lvl="1">
              <a:lnSpc>
                <a:spcPts val="2207"/>
              </a:lnSpc>
              <a:buFont typeface="Arial"/>
              <a:buChar char="•"/>
            </a:pPr>
            <a:r>
              <a:rPr lang="en-US" sz="2063">
                <a:solidFill>
                  <a:srgbClr val="363636"/>
                </a:solidFill>
                <a:latin typeface="Archivo Black"/>
                <a:ea typeface="Archivo Black"/>
                <a:cs typeface="Archivo Black"/>
                <a:sym typeface="Archivo Black"/>
              </a:rPr>
              <a:t>The Flex: By training on adversarial datasets, our Meta-Judge learns to detect the boundary where manipulation starts, not just memorize a specific AI generator's style.</a:t>
            </a:r>
          </a:p>
          <a:p>
            <a:pPr algn="l">
              <a:lnSpc>
                <a:spcPts val="2207"/>
              </a:lnSpc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8837727" y="6825667"/>
            <a:ext cx="9657740" cy="8581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36"/>
              </a:lnSpc>
            </a:pPr>
            <a:r>
              <a:rPr lang="en-US" sz="4954">
                <a:solidFill>
                  <a:srgbClr val="363636"/>
                </a:solidFill>
                <a:latin typeface="Archivo Black"/>
                <a:ea typeface="Archivo Black"/>
                <a:cs typeface="Archivo Black"/>
                <a:sym typeface="Archivo Black"/>
              </a:rPr>
              <a:t>The Deployment Pipeline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969888" y="7799631"/>
            <a:ext cx="9318112" cy="24873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45446" indent="-222723" lvl="1">
              <a:lnSpc>
                <a:spcPts val="2207"/>
              </a:lnSpc>
              <a:buFont typeface="Arial"/>
              <a:buChar char="•"/>
            </a:pPr>
            <a:r>
              <a:rPr lang="en-US" sz="2063">
                <a:solidFill>
                  <a:srgbClr val="363636"/>
                </a:solidFill>
                <a:latin typeface="Archivo Black"/>
                <a:ea typeface="Archivo Black"/>
                <a:cs typeface="Archivo Black"/>
                <a:sym typeface="Archivo Black"/>
              </a:rPr>
              <a:t>TECH: WSL (UBUNTU) $\RIGHTARROW$ DOCKER MICROSERVICES.</a:t>
            </a:r>
          </a:p>
          <a:p>
            <a:pPr algn="l" marL="445446" indent="-222723" lvl="1">
              <a:lnSpc>
                <a:spcPts val="2207"/>
              </a:lnSpc>
              <a:buFont typeface="Arial"/>
              <a:buChar char="•"/>
            </a:pPr>
            <a:r>
              <a:rPr lang="en-US" sz="2063">
                <a:solidFill>
                  <a:srgbClr val="363636"/>
                </a:solidFill>
                <a:latin typeface="Archivo Black"/>
                <a:ea typeface="Archivo Black"/>
                <a:cs typeface="Archivo Black"/>
                <a:sym typeface="Archivo Black"/>
              </a:rPr>
              <a:t>The Build: Rapid local prototyping via WSL seamlessly ports to isolated Docker containers.</a:t>
            </a:r>
          </a:p>
          <a:p>
            <a:pPr algn="l" marL="445446" indent="-222723" lvl="1">
              <a:lnSpc>
                <a:spcPts val="2207"/>
              </a:lnSpc>
              <a:buFont typeface="Arial"/>
              <a:buChar char="•"/>
            </a:pPr>
            <a:r>
              <a:rPr lang="en-US" sz="2063">
                <a:solidFill>
                  <a:srgbClr val="363636"/>
                </a:solidFill>
                <a:latin typeface="Archivo Black"/>
                <a:ea typeface="Archivo Black"/>
                <a:cs typeface="Archivo Black"/>
                <a:sym typeface="Archivo Black"/>
              </a:rPr>
              <a:t>The Flex: Zero "dependency hell." Because every model is containerized, we can deploy LUCENT entirely "air-gapped" behind a bank's private firewall.</a:t>
            </a:r>
          </a:p>
          <a:p>
            <a:pPr algn="l">
              <a:lnSpc>
                <a:spcPts val="2207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0D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00065" y="128441"/>
            <a:ext cx="17833119" cy="9741341"/>
          </a:xfrm>
          <a:custGeom>
            <a:avLst/>
            <a:gdLst/>
            <a:ahLst/>
            <a:cxnLst/>
            <a:rect r="r" b="b" t="t" l="l"/>
            <a:pathLst>
              <a:path h="9741341" w="17833119">
                <a:moveTo>
                  <a:pt x="0" y="0"/>
                </a:moveTo>
                <a:lnTo>
                  <a:pt x="17833119" y="0"/>
                </a:lnTo>
                <a:lnTo>
                  <a:pt x="17833119" y="9741341"/>
                </a:lnTo>
                <a:lnTo>
                  <a:pt x="0" y="974134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786873" y="8609532"/>
            <a:ext cx="1096779" cy="1096779"/>
          </a:xfrm>
          <a:custGeom>
            <a:avLst/>
            <a:gdLst/>
            <a:ahLst/>
            <a:cxnLst/>
            <a:rect r="r" b="b" t="t" l="l"/>
            <a:pathLst>
              <a:path h="1096779" w="1096779">
                <a:moveTo>
                  <a:pt x="0" y="0"/>
                </a:moveTo>
                <a:lnTo>
                  <a:pt x="1096779" y="0"/>
                </a:lnTo>
                <a:lnTo>
                  <a:pt x="1096779" y="1096779"/>
                </a:lnTo>
                <a:lnTo>
                  <a:pt x="0" y="10967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7833119" y="9258300"/>
            <a:ext cx="346945" cy="346945"/>
          </a:xfrm>
          <a:custGeom>
            <a:avLst/>
            <a:gdLst/>
            <a:ahLst/>
            <a:cxnLst/>
            <a:rect r="r" b="b" t="t" l="l"/>
            <a:pathLst>
              <a:path h="346945" w="346945">
                <a:moveTo>
                  <a:pt x="0" y="0"/>
                </a:moveTo>
                <a:lnTo>
                  <a:pt x="346944" y="0"/>
                </a:lnTo>
                <a:lnTo>
                  <a:pt x="346944" y="346945"/>
                </a:lnTo>
                <a:lnTo>
                  <a:pt x="0" y="34694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7630986" y="8458166"/>
            <a:ext cx="549077" cy="549077"/>
          </a:xfrm>
          <a:custGeom>
            <a:avLst/>
            <a:gdLst/>
            <a:ahLst/>
            <a:cxnLst/>
            <a:rect r="r" b="b" t="t" l="l"/>
            <a:pathLst>
              <a:path h="549077" w="549077">
                <a:moveTo>
                  <a:pt x="0" y="0"/>
                </a:moveTo>
                <a:lnTo>
                  <a:pt x="549077" y="0"/>
                </a:lnTo>
                <a:lnTo>
                  <a:pt x="549077" y="549077"/>
                </a:lnTo>
                <a:lnTo>
                  <a:pt x="0" y="54907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00065" y="9011524"/>
            <a:ext cx="13410513" cy="1233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575"/>
              </a:lnSpc>
            </a:pPr>
          </a:p>
          <a:p>
            <a:pPr algn="just">
              <a:lnSpc>
                <a:spcPts val="4575"/>
              </a:lnSpc>
            </a:pPr>
            <a:r>
              <a:rPr lang="en-US" sz="5579">
                <a:solidFill>
                  <a:srgbClr val="363636"/>
                </a:solidFill>
                <a:latin typeface="Archivo Black"/>
                <a:ea typeface="Archivo Black"/>
                <a:cs typeface="Archivo Black"/>
                <a:sym typeface="Archivo Black"/>
              </a:rPr>
              <a:t>WORKING &amp; FUNCTIONALITY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213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78319" y="645325"/>
            <a:ext cx="14750911" cy="9423175"/>
          </a:xfrm>
          <a:custGeom>
            <a:avLst/>
            <a:gdLst/>
            <a:ahLst/>
            <a:cxnLst/>
            <a:rect r="r" b="b" t="t" l="l"/>
            <a:pathLst>
              <a:path h="9423175" w="14750911">
                <a:moveTo>
                  <a:pt x="0" y="0"/>
                </a:moveTo>
                <a:lnTo>
                  <a:pt x="14750911" y="0"/>
                </a:lnTo>
                <a:lnTo>
                  <a:pt x="14750911" y="9423174"/>
                </a:lnTo>
                <a:lnTo>
                  <a:pt x="0" y="942317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1867" t="-2817" r="-11768" b="-2903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56160" y="463468"/>
            <a:ext cx="15373070" cy="916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03"/>
              </a:lnSpc>
            </a:pPr>
            <a:r>
              <a:rPr lang="en-US" sz="7714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DEM</a:t>
            </a:r>
            <a:r>
              <a:rPr lang="en-US" sz="7714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O&amp; SNEAK PEAK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4817179" y="69855"/>
            <a:ext cx="2251072" cy="2251072"/>
          </a:xfrm>
          <a:custGeom>
            <a:avLst/>
            <a:gdLst/>
            <a:ahLst/>
            <a:cxnLst/>
            <a:rect r="r" b="b" t="t" l="l"/>
            <a:pathLst>
              <a:path h="2251072" w="2251072">
                <a:moveTo>
                  <a:pt x="0" y="0"/>
                </a:moveTo>
                <a:lnTo>
                  <a:pt x="2251072" y="0"/>
                </a:lnTo>
                <a:lnTo>
                  <a:pt x="2251072" y="2251072"/>
                </a:lnTo>
                <a:lnTo>
                  <a:pt x="0" y="22510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270805" y="2172578"/>
            <a:ext cx="582726" cy="582726"/>
          </a:xfrm>
          <a:custGeom>
            <a:avLst/>
            <a:gdLst/>
            <a:ahLst/>
            <a:cxnLst/>
            <a:rect r="r" b="b" t="t" l="l"/>
            <a:pathLst>
              <a:path h="582726" w="582726">
                <a:moveTo>
                  <a:pt x="0" y="0"/>
                </a:moveTo>
                <a:lnTo>
                  <a:pt x="582726" y="0"/>
                </a:lnTo>
                <a:lnTo>
                  <a:pt x="582726" y="582726"/>
                </a:lnTo>
                <a:lnTo>
                  <a:pt x="0" y="58272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853531" y="1380054"/>
            <a:ext cx="811538" cy="811538"/>
          </a:xfrm>
          <a:custGeom>
            <a:avLst/>
            <a:gdLst/>
            <a:ahLst/>
            <a:cxnLst/>
            <a:rect r="r" b="b" t="t" l="l"/>
            <a:pathLst>
              <a:path h="811538" w="811538">
                <a:moveTo>
                  <a:pt x="0" y="0"/>
                </a:moveTo>
                <a:lnTo>
                  <a:pt x="811538" y="0"/>
                </a:lnTo>
                <a:lnTo>
                  <a:pt x="811538" y="811538"/>
                </a:lnTo>
                <a:lnTo>
                  <a:pt x="0" y="8115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250016" y="2845390"/>
            <a:ext cx="6668328" cy="5027592"/>
          </a:xfrm>
          <a:custGeom>
            <a:avLst/>
            <a:gdLst/>
            <a:ahLst/>
            <a:cxnLst/>
            <a:rect r="r" b="b" t="t" l="l"/>
            <a:pathLst>
              <a:path h="5027592" w="6668328">
                <a:moveTo>
                  <a:pt x="0" y="0"/>
                </a:moveTo>
                <a:lnTo>
                  <a:pt x="6668327" y="0"/>
                </a:lnTo>
                <a:lnTo>
                  <a:pt x="6668327" y="5027592"/>
                </a:lnTo>
                <a:lnTo>
                  <a:pt x="0" y="502759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6649" t="0" r="-6649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67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856934" y="4038757"/>
            <a:ext cx="9785341" cy="9785341"/>
          </a:xfrm>
          <a:custGeom>
            <a:avLst/>
            <a:gdLst/>
            <a:ahLst/>
            <a:cxnLst/>
            <a:rect r="r" b="b" t="t" l="l"/>
            <a:pathLst>
              <a:path h="9785341" w="9785341">
                <a:moveTo>
                  <a:pt x="0" y="0"/>
                </a:moveTo>
                <a:lnTo>
                  <a:pt x="9785341" y="0"/>
                </a:lnTo>
                <a:lnTo>
                  <a:pt x="9785341" y="9785340"/>
                </a:lnTo>
                <a:lnTo>
                  <a:pt x="0" y="97853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0" y="6317228"/>
            <a:ext cx="18755583" cy="7927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250"/>
              </a:lnSpc>
            </a:pPr>
            <a:r>
              <a:rPr lang="en-US" sz="12500" spc="-837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MARKET FOCUS &amp; FUTURE TRAJECTORY</a:t>
            </a:r>
          </a:p>
          <a:p>
            <a:pPr algn="l">
              <a:lnSpc>
                <a:spcPts val="10250"/>
              </a:lnSpc>
            </a:pPr>
          </a:p>
          <a:p>
            <a:pPr algn="l">
              <a:lnSpc>
                <a:spcPts val="10250"/>
              </a:lnSpc>
            </a:pPr>
          </a:p>
          <a:p>
            <a:pPr algn="l">
              <a:lnSpc>
                <a:spcPts val="10250"/>
              </a:lnSpc>
            </a:pPr>
          </a:p>
          <a:p>
            <a:pPr algn="l">
              <a:lnSpc>
                <a:spcPts val="10250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144453" y="9201150"/>
            <a:ext cx="9075168" cy="43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“DESIGNED FOR ORGANIZERS, BUILT FOR SAFETY”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69895" y="4429125"/>
            <a:ext cx="4918892" cy="504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05"/>
              </a:lnSpc>
            </a:pPr>
            <a:r>
              <a:rPr lang="en-US" sz="3556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TARGET SECTORS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02230" y="225181"/>
            <a:ext cx="4852332" cy="41753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207" indent="-259104" lvl="1">
              <a:lnSpc>
                <a:spcPts val="3360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Banking &amp; Finance: Securing KYC (Know Your Customer) pipelines against identity fraud.</a:t>
            </a:r>
          </a:p>
          <a:p>
            <a:pPr algn="l" marL="518207" indent="-259104" lvl="1">
              <a:lnSpc>
                <a:spcPts val="3360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Enterprise: Neutralizing live "CEO Fraud" on Zoom/Teams.</a:t>
            </a:r>
          </a:p>
          <a:p>
            <a:pPr algn="l" marL="518207" indent="-259104" lvl="1">
              <a:lnSpc>
                <a:spcPts val="3360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Legal/OSINT: Delivering court-admissible digital evidence.</a:t>
            </a:r>
          </a:p>
          <a:p>
            <a:pPr algn="l">
              <a:lnSpc>
                <a:spcPts val="3360"/>
              </a:lnSpc>
              <a:spcBef>
                <a:spcPct val="0"/>
              </a:spcBef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6566300" y="4451253"/>
            <a:ext cx="4858702" cy="460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9"/>
              </a:lnSpc>
            </a:pPr>
            <a:r>
              <a:rPr lang="en-US" sz="3261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REVENUE STREAMS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035101" y="225181"/>
            <a:ext cx="5586886" cy="4344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2931" indent="-266466" lvl="1">
              <a:lnSpc>
                <a:spcPts val="3455"/>
              </a:lnSpc>
              <a:buFont typeface="Arial"/>
              <a:buChar char="•"/>
            </a:pPr>
            <a:r>
              <a:rPr lang="en-US" sz="2468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API Gateway (Volume): Micro-transaction fees per automated video scan.</a:t>
            </a:r>
          </a:p>
          <a:p>
            <a:pPr algn="l" marL="532931" indent="-266466" lvl="1">
              <a:lnSpc>
                <a:spcPts val="3455"/>
              </a:lnSpc>
              <a:buFont typeface="Arial"/>
              <a:buChar char="•"/>
            </a:pPr>
            <a:r>
              <a:rPr lang="en-US" sz="2468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Ente</a:t>
            </a:r>
            <a:r>
              <a:rPr lang="en-US" sz="2468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rprise Shield (Seats): Annual licenses for our browser extension.</a:t>
            </a:r>
          </a:p>
          <a:p>
            <a:pPr algn="l" marL="532931" indent="-266466" lvl="1">
              <a:lnSpc>
                <a:spcPts val="3455"/>
              </a:lnSpc>
              <a:buFont typeface="Arial"/>
              <a:buChar char="•"/>
            </a:pPr>
            <a:r>
              <a:rPr lang="en-US" sz="2468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On-Premise (</a:t>
            </a:r>
            <a:r>
              <a:rPr lang="en-US" sz="2468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High-Tick</a:t>
            </a:r>
            <a:r>
              <a:rPr lang="en-US" sz="2468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et): Premium, air-gapped deployments behind a client's private firewall.</a:t>
            </a:r>
          </a:p>
          <a:p>
            <a:pPr algn="l">
              <a:lnSpc>
                <a:spcPts val="3455"/>
              </a:lnSpc>
              <a:spcBef>
                <a:spcPct val="0"/>
              </a:spcBef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2957092" y="4506676"/>
            <a:ext cx="5559071" cy="4268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52"/>
              </a:lnSpc>
            </a:pPr>
            <a:r>
              <a:rPr lang="en-US" sz="303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COMPLIANCE GOALS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595617" y="215656"/>
            <a:ext cx="5472734" cy="38231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77512" indent="-338756" lvl="1">
              <a:lnSpc>
                <a:spcPts val="4393"/>
              </a:lnSpc>
              <a:buFont typeface="Arial"/>
              <a:buChar char="•"/>
            </a:pPr>
            <a:r>
              <a:rPr lang="en-US" sz="3138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Mandated Markets: Upcoming AI regulations (like India IT Rules 2026) make deepfake auditing a legal requirement. We aren't just security; we a</a:t>
            </a:r>
            <a:r>
              <a:rPr lang="en-US" sz="3138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re mandatory compliance.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DAG4f7aJwPM</dc:identifier>
  <dcterms:modified xsi:type="dcterms:W3CDTF">2011-08-01T06:04:30Z</dcterms:modified>
  <cp:revision>1</cp:revision>
  <dc:title>Black and Pink Modern Minimal Pitch Deck Presentation</dc:title>
</cp:coreProperties>
</file>